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6365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2F54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57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232A3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6365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2F54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57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232A3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6365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57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232A3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6365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57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232A3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57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232A3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317500"/>
            <a:ext cx="564197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6365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02300" y="1497753"/>
            <a:ext cx="5781675" cy="17805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2F54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8800" y="6552015"/>
            <a:ext cx="3809365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5764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47700" y="6197023"/>
            <a:ext cx="622935" cy="17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232A3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unb.ca/cic/datasets/darknet2020.html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01600"/>
          </a:xfrm>
          <a:custGeom>
            <a:avLst/>
            <a:gdLst/>
            <a:ahLst/>
            <a:cxnLst/>
            <a:rect l="l" t="t" r="r" b="b"/>
            <a:pathLst>
              <a:path w="12192000" h="101600">
                <a:moveTo>
                  <a:pt x="12192000" y="0"/>
                </a:moveTo>
                <a:lnTo>
                  <a:pt x="0" y="0"/>
                </a:lnTo>
                <a:lnTo>
                  <a:pt x="0" y="101600"/>
                </a:lnTo>
                <a:lnTo>
                  <a:pt x="12192000" y="1016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6900" y="774700"/>
            <a:ext cx="5237480" cy="1036319"/>
          </a:xfrm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60"/>
              </a:spcBef>
            </a:pPr>
            <a:r>
              <a:rPr dirty="0" sz="3300" spc="-20"/>
              <a:t>SELF-</a:t>
            </a:r>
            <a:r>
              <a:rPr dirty="0" sz="3300"/>
              <a:t>SUPERVISED</a:t>
            </a:r>
            <a:r>
              <a:rPr dirty="0" sz="3300" spc="-145"/>
              <a:t> </a:t>
            </a:r>
            <a:r>
              <a:rPr dirty="0" sz="3300" spc="-10"/>
              <a:t>ENCRYPTED </a:t>
            </a:r>
            <a:r>
              <a:rPr dirty="0" sz="3300"/>
              <a:t>TRAFFIC</a:t>
            </a:r>
            <a:r>
              <a:rPr dirty="0" sz="3300" spc="-114"/>
              <a:t> </a:t>
            </a:r>
            <a:r>
              <a:rPr dirty="0" sz="3300" spc="-10"/>
              <a:t>CLASSIFICATION</a:t>
            </a:r>
            <a:endParaRPr sz="3300"/>
          </a:p>
        </p:txBody>
      </p:sp>
      <p:sp>
        <p:nvSpPr>
          <p:cNvPr id="4" name="object 4"/>
          <p:cNvSpPr txBox="1"/>
          <p:nvPr/>
        </p:nvSpPr>
        <p:spPr>
          <a:xfrm>
            <a:off x="596900" y="1930400"/>
            <a:ext cx="39846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2F5497"/>
                </a:solidFill>
                <a:latin typeface="Calibri"/>
                <a:cs typeface="Calibri"/>
              </a:rPr>
              <a:t>Under</a:t>
            </a:r>
            <a:r>
              <a:rPr dirty="0" sz="2200" spc="-5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2F5497"/>
                </a:solidFill>
                <a:latin typeface="Calibri"/>
                <a:cs typeface="Calibri"/>
              </a:rPr>
              <a:t>Network</a:t>
            </a:r>
            <a:r>
              <a:rPr dirty="0" sz="2200" spc="-4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2F5497"/>
                </a:solidFill>
                <a:latin typeface="Calibri"/>
                <a:cs typeface="Calibri"/>
              </a:rPr>
              <a:t>Distribution</a:t>
            </a:r>
            <a:r>
              <a:rPr dirty="0" sz="2200" spc="-4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2F5497"/>
                </a:solidFill>
                <a:latin typeface="Calibri"/>
                <a:cs typeface="Calibri"/>
              </a:rPr>
              <a:t>Shifts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" y="2603500"/>
            <a:ext cx="7010400" cy="0"/>
          </a:xfrm>
          <a:custGeom>
            <a:avLst/>
            <a:gdLst/>
            <a:ahLst/>
            <a:cxnLst/>
            <a:rect l="l" t="t" r="r" b="b"/>
            <a:pathLst>
              <a:path w="7010400" h="0">
                <a:moveTo>
                  <a:pt x="0" y="0"/>
                </a:moveTo>
                <a:lnTo>
                  <a:pt x="7010400" y="0"/>
                </a:lnTo>
              </a:path>
            </a:pathLst>
          </a:custGeom>
          <a:ln w="12700">
            <a:solidFill>
              <a:srgbClr val="D6DD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96900" y="2908300"/>
            <a:ext cx="47313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F5497"/>
                </a:solidFill>
                <a:latin typeface="Calibri"/>
                <a:cs typeface="Calibri"/>
              </a:rPr>
              <a:t>COMPUTER</a:t>
            </a:r>
            <a:r>
              <a:rPr dirty="0" sz="1200" spc="-2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F5497"/>
                </a:solidFill>
                <a:latin typeface="Calibri"/>
                <a:cs typeface="Calibri"/>
              </a:rPr>
              <a:t>NETWORKS</a:t>
            </a:r>
            <a:r>
              <a:rPr dirty="0" sz="1200" spc="-2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F5497"/>
                </a:solidFill>
                <a:latin typeface="Calibri"/>
                <a:cs typeface="Calibri"/>
              </a:rPr>
              <a:t>LAB</a:t>
            </a:r>
            <a:r>
              <a:rPr dirty="0" sz="1200" spc="-2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F5497"/>
                </a:solidFill>
                <a:latin typeface="Calibri"/>
                <a:cs typeface="Calibri"/>
              </a:rPr>
              <a:t>(BCSE308P)</a:t>
            </a:r>
            <a:r>
              <a:rPr dirty="0" sz="1200" spc="22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F5497"/>
                </a:solidFill>
                <a:latin typeface="Calibri"/>
                <a:cs typeface="Calibri"/>
              </a:rPr>
              <a:t>|</a:t>
            </a:r>
            <a:r>
              <a:rPr dirty="0" sz="1200" spc="22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F5497"/>
                </a:solidFill>
                <a:latin typeface="Calibri"/>
                <a:cs typeface="Calibri"/>
              </a:rPr>
              <a:t>ASSIGNMENT</a:t>
            </a:r>
            <a:r>
              <a:rPr dirty="0" sz="1200" spc="-2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2F5497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Project</a:t>
            </a:r>
            <a:r>
              <a:rPr dirty="0" sz="1200" spc="-2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presentation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–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self-supervised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learning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and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chronological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evaluation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6900" y="3854450"/>
            <a:ext cx="1925320" cy="1146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2F5497"/>
                </a:solidFill>
                <a:latin typeface="Calibri"/>
                <a:cs typeface="Calibri"/>
              </a:rPr>
              <a:t>PRESENTED</a:t>
            </a:r>
            <a:r>
              <a:rPr dirty="0" sz="1050" spc="-2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2F5497"/>
                </a:solidFill>
                <a:latin typeface="Calibri"/>
                <a:cs typeface="Calibri"/>
              </a:rPr>
              <a:t>BY</a:t>
            </a:r>
            <a:r>
              <a:rPr dirty="0" sz="1050" spc="20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2F5497"/>
                </a:solidFill>
                <a:latin typeface="Calibri"/>
                <a:cs typeface="Calibri"/>
              </a:rPr>
              <a:t>(F2</a:t>
            </a:r>
            <a:r>
              <a:rPr dirty="0" sz="1050" spc="-1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2F5497"/>
                </a:solidFill>
                <a:latin typeface="Calibri"/>
                <a:cs typeface="Calibri"/>
              </a:rPr>
              <a:t>•</a:t>
            </a:r>
            <a:r>
              <a:rPr dirty="0" sz="1050" spc="-2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2F5497"/>
                </a:solidFill>
                <a:latin typeface="Calibri"/>
                <a:cs typeface="Calibri"/>
              </a:rPr>
              <a:t>TEAM</a:t>
            </a:r>
            <a:r>
              <a:rPr dirty="0" sz="1050" spc="-1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050" spc="-25" b="1">
                <a:solidFill>
                  <a:srgbClr val="2F5497"/>
                </a:solidFill>
                <a:latin typeface="Calibri"/>
                <a:cs typeface="Calibri"/>
              </a:rPr>
              <a:t>28)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42900"/>
              </a:lnSpc>
              <a:spcBef>
                <a:spcPts val="370"/>
              </a:spcBef>
            </a:pPr>
            <a:r>
              <a:rPr dirty="0" sz="1400" b="1">
                <a:solidFill>
                  <a:srgbClr val="16365D"/>
                </a:solidFill>
                <a:latin typeface="Calibri"/>
                <a:cs typeface="Calibri"/>
              </a:rPr>
              <a:t>P</a:t>
            </a:r>
            <a:r>
              <a:rPr dirty="0" sz="1400" spc="-4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6365D"/>
                </a:solidFill>
                <a:latin typeface="Calibri"/>
                <a:cs typeface="Calibri"/>
              </a:rPr>
              <a:t>SASIKIRAN</a:t>
            </a:r>
            <a:r>
              <a:rPr dirty="0" sz="1400" spc="-3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6365D"/>
                </a:solidFill>
                <a:latin typeface="Calibri"/>
                <a:cs typeface="Calibri"/>
              </a:rPr>
              <a:t>(24BCE0349) </a:t>
            </a:r>
            <a:r>
              <a:rPr dirty="0" sz="1400" b="1">
                <a:solidFill>
                  <a:srgbClr val="16365D"/>
                </a:solidFill>
                <a:latin typeface="Calibri"/>
                <a:cs typeface="Calibri"/>
              </a:rPr>
              <a:t>G</a:t>
            </a:r>
            <a:r>
              <a:rPr dirty="0" sz="1400" spc="-3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6365D"/>
                </a:solidFill>
                <a:latin typeface="Calibri"/>
                <a:cs typeface="Calibri"/>
              </a:rPr>
              <a:t>MONISH</a:t>
            </a:r>
            <a:r>
              <a:rPr dirty="0" sz="14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6365D"/>
                </a:solidFill>
                <a:latin typeface="Calibri"/>
                <a:cs typeface="Calibri"/>
              </a:rPr>
              <a:t>(24BCE2050)</a:t>
            </a:r>
            <a:r>
              <a:rPr dirty="0" sz="1400" spc="50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6365D"/>
                </a:solidFill>
                <a:latin typeface="Calibri"/>
                <a:cs typeface="Calibri"/>
              </a:rPr>
              <a:t>A</a:t>
            </a:r>
            <a:r>
              <a:rPr dirty="0" sz="1400" spc="-3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6365D"/>
                </a:solidFill>
                <a:latin typeface="Calibri"/>
                <a:cs typeface="Calibri"/>
              </a:rPr>
              <a:t>HARSHA</a:t>
            </a:r>
            <a:r>
              <a:rPr dirty="0" sz="1400" spc="-3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6365D"/>
                </a:solidFill>
                <a:latin typeface="Calibri"/>
                <a:cs typeface="Calibri"/>
              </a:rPr>
              <a:t>(24BCE2292)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6900" y="6210300"/>
            <a:ext cx="54190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Focus: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measure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whether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learned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features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still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help when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the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test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period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differs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from the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76474"/>
                </a:solidFill>
                <a:latin typeface="Calibri"/>
                <a:cs typeface="Calibri"/>
              </a:rPr>
              <a:t>training</a:t>
            </a:r>
            <a:r>
              <a:rPr dirty="0" sz="10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576474"/>
                </a:solidFill>
                <a:latin typeface="Calibri"/>
                <a:cs typeface="Calibri"/>
              </a:rPr>
              <a:t>period.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dirty="0" spc="-45"/>
              <a:t> </a:t>
            </a:r>
            <a:r>
              <a:rPr dirty="0"/>
              <a:t>Problem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 spc="-1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744" y="863600"/>
            <a:ext cx="875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WHY THIS </a:t>
            </a: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MATTERS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041400"/>
            <a:ext cx="10960100" cy="0"/>
          </a:xfrm>
          <a:custGeom>
            <a:avLst/>
            <a:gdLst/>
            <a:ahLst/>
            <a:cxnLst/>
            <a:rect l="l" t="t" r="r" b="b"/>
            <a:pathLst>
              <a:path w="10960100" h="0">
                <a:moveTo>
                  <a:pt x="0" y="0"/>
                </a:moveTo>
                <a:lnTo>
                  <a:pt x="10960100" y="0"/>
                </a:lnTo>
              </a:path>
            </a:pathLst>
          </a:custGeom>
          <a:ln w="19050">
            <a:solidFill>
              <a:srgbClr val="2F54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8800" y="1212850"/>
            <a:ext cx="10935335" cy="829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Why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encrypted-traffic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classification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needs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time-aware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evaluation.</a:t>
            </a: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13100"/>
              </a:lnSpc>
              <a:spcBef>
                <a:spcPts val="1150"/>
              </a:spcBef>
            </a:pP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Encrypted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traffic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hides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payload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content.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Network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operators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still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need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to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understand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traffic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applications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for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monitoring,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32A31"/>
                </a:solidFill>
                <a:latin typeface="Calibri"/>
                <a:cs typeface="Calibri"/>
              </a:rPr>
              <a:t>troubleshooting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security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232A31"/>
                </a:solidFill>
                <a:latin typeface="Calibri"/>
                <a:cs typeface="Calibri"/>
              </a:rPr>
              <a:t>—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without</a:t>
            </a:r>
            <a:r>
              <a:rPr dirty="0" sz="1400" spc="-4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relying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on</a:t>
            </a:r>
            <a:r>
              <a:rPr dirty="0" sz="1400" spc="-4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readable</a:t>
            </a:r>
            <a:r>
              <a:rPr dirty="0" sz="14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32A31"/>
                </a:solidFill>
                <a:latin typeface="Calibri"/>
                <a:cs typeface="Calibri"/>
              </a:rPr>
              <a:t>packet</a:t>
            </a:r>
            <a:r>
              <a:rPr dirty="0" sz="1400" spc="-4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32A31"/>
                </a:solidFill>
                <a:latin typeface="Calibri"/>
                <a:cs typeface="Calibri"/>
              </a:rPr>
              <a:t>payloads.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500" y="2476500"/>
            <a:ext cx="5397500" cy="12700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THE</a:t>
            </a:r>
            <a:r>
              <a:rPr dirty="0" sz="1300" spc="-2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CHALLENGE</a:t>
            </a:r>
            <a:endParaRPr sz="1300">
              <a:latin typeface="Calibri"/>
              <a:cs typeface="Calibri"/>
            </a:endParaRPr>
          </a:p>
          <a:p>
            <a:pPr marL="177800" marR="177165">
              <a:lnSpc>
                <a:spcPct val="108300"/>
              </a:lnSpc>
              <a:spcBef>
                <a:spcPts val="565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Traffic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patterns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can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change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over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time.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model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trained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on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one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period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may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not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generalize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to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later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period.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4100" y="2476500"/>
            <a:ext cx="5397500" cy="1270000"/>
          </a:xfrm>
          <a:prstGeom prst="rect">
            <a:avLst/>
          </a:prstGeom>
          <a:solidFill>
            <a:srgbClr val="FBEDE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b="1">
                <a:solidFill>
                  <a:srgbClr val="9C2A1A"/>
                </a:solidFill>
                <a:latin typeface="Calibri"/>
                <a:cs typeface="Calibri"/>
              </a:rPr>
              <a:t>THE</a:t>
            </a:r>
            <a:r>
              <a:rPr dirty="0" sz="1300" spc="-2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9C2A1A"/>
                </a:solidFill>
                <a:latin typeface="Calibri"/>
                <a:cs typeface="Calibri"/>
              </a:rPr>
              <a:t>RISK</a:t>
            </a:r>
            <a:endParaRPr sz="1300">
              <a:latin typeface="Calibri"/>
              <a:cs typeface="Calibri"/>
            </a:endParaRPr>
          </a:p>
          <a:p>
            <a:pPr marL="177800" marR="823594">
              <a:lnSpc>
                <a:spcPct val="108300"/>
              </a:lnSpc>
              <a:spcBef>
                <a:spcPts val="565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Random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train/test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splits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can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make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evaluation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look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easier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than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real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future-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time</a:t>
            </a:r>
            <a:r>
              <a:rPr dirty="0" sz="1250" spc="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test.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800" y="4013200"/>
            <a:ext cx="92329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Our </a:t>
            </a: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question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500" y="4343400"/>
            <a:ext cx="10960100" cy="990600"/>
          </a:xfrm>
          <a:prstGeom prst="rect">
            <a:avLst/>
          </a:prstGeom>
          <a:solidFill>
            <a:srgbClr val="E9EFF6"/>
          </a:solidFill>
          <a:ln w="10159">
            <a:solidFill>
              <a:srgbClr val="D6DDE4"/>
            </a:solidFill>
          </a:ln>
        </p:spPr>
        <p:txBody>
          <a:bodyPr wrap="square" lIns="0" tIns="114300" rIns="0" bIns="0" rtlCol="0" vert="horz">
            <a:spAutoFit/>
          </a:bodyPr>
          <a:lstStyle/>
          <a:p>
            <a:pPr marL="190500" marR="271780">
              <a:lnSpc>
                <a:spcPct val="111100"/>
              </a:lnSpc>
              <a:spcBef>
                <a:spcPts val="900"/>
              </a:spcBef>
            </a:pP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Can</a:t>
            </a:r>
            <a:r>
              <a:rPr dirty="0" sz="15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a</a:t>
            </a:r>
            <a:r>
              <a:rPr dirty="0" sz="15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self-supervised</a:t>
            </a:r>
            <a:r>
              <a:rPr dirty="0" sz="15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feature-learning</a:t>
            </a:r>
            <a:r>
              <a:rPr dirty="0" sz="15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pipeline improve</a:t>
            </a:r>
            <a:r>
              <a:rPr dirty="0" sz="15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encrypted-traffic</a:t>
            </a:r>
            <a:r>
              <a:rPr dirty="0" sz="15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classification</a:t>
            </a:r>
            <a:r>
              <a:rPr dirty="0" sz="15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when</a:t>
            </a:r>
            <a:r>
              <a:rPr dirty="0" sz="15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the test-period</a:t>
            </a:r>
            <a:r>
              <a:rPr dirty="0" sz="15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distribution</a:t>
            </a:r>
            <a:r>
              <a:rPr dirty="0" sz="15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differs</a:t>
            </a:r>
            <a:r>
              <a:rPr dirty="0" sz="15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16365D"/>
                </a:solidFill>
                <a:latin typeface="Calibri"/>
                <a:cs typeface="Calibri"/>
              </a:rPr>
              <a:t>from </a:t>
            </a:r>
            <a:r>
              <a:rPr dirty="0" sz="1500" b="1">
                <a:solidFill>
                  <a:srgbClr val="16365D"/>
                </a:solidFill>
                <a:latin typeface="Calibri"/>
                <a:cs typeface="Calibri"/>
              </a:rPr>
              <a:t>the training </a:t>
            </a:r>
            <a:r>
              <a:rPr dirty="0" sz="1500" spc="-10" b="1">
                <a:solidFill>
                  <a:srgbClr val="16365D"/>
                </a:solidFill>
                <a:latin typeface="Calibri"/>
                <a:cs typeface="Calibri"/>
              </a:rPr>
              <a:t>period?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800" y="5575300"/>
            <a:ext cx="6450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Focus:</a:t>
            </a:r>
            <a:r>
              <a:rPr dirty="0" sz="1200" spc="-25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robust</a:t>
            </a:r>
            <a:r>
              <a:rPr dirty="0" sz="1200" spc="-25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evaluation</a:t>
            </a:r>
            <a:r>
              <a:rPr dirty="0" sz="1200" spc="-20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under</a:t>
            </a:r>
            <a:r>
              <a:rPr dirty="0" sz="1200" spc="-25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a</a:t>
            </a:r>
            <a:r>
              <a:rPr dirty="0" sz="1200" spc="-25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chronological</a:t>
            </a:r>
            <a:r>
              <a:rPr dirty="0" sz="1200" spc="-20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distribution</a:t>
            </a:r>
            <a:r>
              <a:rPr dirty="0" sz="1200" spc="-25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shift</a:t>
            </a:r>
            <a:r>
              <a:rPr dirty="0" sz="1200" spc="-25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—</a:t>
            </a:r>
            <a:r>
              <a:rPr dirty="0" sz="1200" spc="-20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not</a:t>
            </a:r>
            <a:r>
              <a:rPr dirty="0" sz="1200" spc="-25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just</a:t>
            </a:r>
            <a:r>
              <a:rPr dirty="0" sz="1200" spc="-25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a</a:t>
            </a:r>
            <a:r>
              <a:rPr dirty="0" sz="1200" spc="-20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high</a:t>
            </a:r>
            <a:r>
              <a:rPr dirty="0" sz="1200" spc="-25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7B49"/>
                </a:solidFill>
                <a:latin typeface="Calibri"/>
                <a:cs typeface="Calibri"/>
              </a:rPr>
              <a:t>random-</a:t>
            </a:r>
            <a:r>
              <a:rPr dirty="0" sz="1200" b="1">
                <a:solidFill>
                  <a:srgbClr val="1D7B49"/>
                </a:solidFill>
                <a:latin typeface="Calibri"/>
                <a:cs typeface="Calibri"/>
              </a:rPr>
              <a:t>split</a:t>
            </a:r>
            <a:r>
              <a:rPr dirty="0" sz="1200" spc="-25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7B49"/>
                </a:solidFill>
                <a:latin typeface="Calibri"/>
                <a:cs typeface="Calibri"/>
              </a:rPr>
              <a:t>score.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919" y="6103620"/>
            <a:ext cx="11033760" cy="340360"/>
          </a:xfrm>
          <a:prstGeom prst="rect">
            <a:avLst/>
          </a:prstGeom>
          <a:solidFill>
            <a:srgbClr val="F2F4F9"/>
          </a:solidFill>
          <a:ln w="3175">
            <a:solidFill>
              <a:srgbClr val="F2F4F9"/>
            </a:solidFill>
          </a:ln>
        </p:spPr>
        <p:txBody>
          <a:bodyPr wrap="square" lIns="0" tIns="10033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790"/>
              </a:spcBef>
              <a:tabLst>
                <a:tab pos="995044" algn="l"/>
              </a:tabLst>
            </a:pP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IN ONE </a:t>
            </a:r>
            <a:r>
              <a:rPr dirty="0" sz="950" spc="-20">
                <a:solidFill>
                  <a:srgbClr val="232A31"/>
                </a:solidFill>
                <a:latin typeface="Calibri"/>
                <a:cs typeface="Calibri"/>
              </a:rPr>
              <a:t>LINE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	Encrypted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traffic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must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be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classified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without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payloads,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models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must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survive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changes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over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 time.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209546" y="6552015"/>
            <a:ext cx="335280" cy="1574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02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/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576474"/>
                </a:solidFill>
                <a:latin typeface="Calibri"/>
                <a:cs typeface="Calibri"/>
              </a:rPr>
              <a:t>10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dirty="0" spc="-60"/>
              <a:t> </a:t>
            </a:r>
            <a:r>
              <a:rPr dirty="0"/>
              <a:t>Existing</a:t>
            </a:r>
            <a:r>
              <a:rPr dirty="0" spc="-55"/>
              <a:t> </a:t>
            </a:r>
            <a:r>
              <a:rPr dirty="0"/>
              <a:t>Approach</a:t>
            </a:r>
            <a:r>
              <a:rPr dirty="0" spc="-55"/>
              <a:t> </a:t>
            </a:r>
            <a:r>
              <a:rPr dirty="0"/>
              <a:t>(Baseline)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/>
              <a:t>Its</a:t>
            </a:r>
            <a:r>
              <a:rPr dirty="0" spc="-55"/>
              <a:t> </a:t>
            </a:r>
            <a:r>
              <a:rPr dirty="0" spc="-25"/>
              <a:t>Gap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26427" y="863600"/>
            <a:ext cx="13182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WHAT</a:t>
            </a: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WE</a:t>
            </a:r>
            <a:r>
              <a:rPr dirty="0" sz="800" spc="-5" b="1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COMPARE</a:t>
            </a: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 AGAINST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041400"/>
            <a:ext cx="10960100" cy="0"/>
          </a:xfrm>
          <a:custGeom>
            <a:avLst/>
            <a:gdLst/>
            <a:ahLst/>
            <a:cxnLst/>
            <a:rect l="l" t="t" r="r" b="b"/>
            <a:pathLst>
              <a:path w="10960100" h="0">
                <a:moveTo>
                  <a:pt x="0" y="0"/>
                </a:moveTo>
                <a:lnTo>
                  <a:pt x="10960100" y="0"/>
                </a:lnTo>
              </a:path>
            </a:pathLst>
          </a:custGeom>
          <a:ln w="19050">
            <a:solidFill>
              <a:srgbClr val="2F54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8800" y="1212850"/>
            <a:ext cx="4011929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baseline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we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compare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with,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and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why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a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time-based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test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matters.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500" y="1587500"/>
            <a:ext cx="3556000" cy="15240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BASELINE</a:t>
            </a:r>
            <a:endParaRPr sz="1300">
              <a:latin typeface="Calibri"/>
              <a:cs typeface="Calibri"/>
            </a:endParaRPr>
          </a:p>
          <a:p>
            <a:pPr marL="177800" marR="187960">
              <a:lnSpc>
                <a:spcPct val="108300"/>
              </a:lnSpc>
              <a:spcBef>
                <a:spcPts val="565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Supervised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classifier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trained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on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earlier-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period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labeled</a:t>
            </a:r>
            <a:r>
              <a:rPr dirty="0" sz="125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traffic</a:t>
            </a:r>
            <a:r>
              <a:rPr dirty="0" sz="125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features.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8000" y="1587500"/>
            <a:ext cx="3556000" cy="1524000"/>
          </a:xfrm>
          <a:prstGeom prst="rect">
            <a:avLst/>
          </a:prstGeom>
          <a:solidFill>
            <a:srgbClr val="FBEDE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b="1">
                <a:solidFill>
                  <a:srgbClr val="9C2A1A"/>
                </a:solidFill>
                <a:latin typeface="Calibri"/>
                <a:cs typeface="Calibri"/>
              </a:rPr>
              <a:t>COMMON EVALUATION </a:t>
            </a:r>
            <a:r>
              <a:rPr dirty="0" sz="1300" spc="-25" b="1">
                <a:solidFill>
                  <a:srgbClr val="9C2A1A"/>
                </a:solidFill>
                <a:latin typeface="Calibri"/>
                <a:cs typeface="Calibri"/>
              </a:rPr>
              <a:t>GAP</a:t>
            </a:r>
            <a:endParaRPr sz="1300">
              <a:latin typeface="Calibri"/>
              <a:cs typeface="Calibri"/>
            </a:endParaRPr>
          </a:p>
          <a:p>
            <a:pPr marL="177800" marR="182245">
              <a:lnSpc>
                <a:spcPct val="108300"/>
              </a:lnSpc>
              <a:spcBef>
                <a:spcPts val="565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Random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stratified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splits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can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mix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time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periods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and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hide</a:t>
            </a:r>
            <a:r>
              <a:rPr dirty="0" sz="125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temporal</a:t>
            </a:r>
            <a:r>
              <a:rPr dirty="0" sz="125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drift.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64500" y="1587500"/>
            <a:ext cx="3467100" cy="15240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OUR</a:t>
            </a:r>
            <a:r>
              <a:rPr dirty="0" sz="1300" spc="-2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F5497"/>
                </a:solidFill>
                <a:latin typeface="Calibri"/>
                <a:cs typeface="Calibri"/>
              </a:rPr>
              <a:t>TEST</a:t>
            </a:r>
            <a:endParaRPr sz="130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  <a:spcBef>
                <a:spcPts val="690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Train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before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24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Feb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2016;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test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on/after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24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Feb</a:t>
            </a:r>
            <a:endParaRPr sz="125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2016.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800" y="3441700"/>
            <a:ext cx="246062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Observed</a:t>
            </a:r>
            <a:r>
              <a:rPr dirty="0" sz="1300" spc="-3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on</a:t>
            </a:r>
            <a:r>
              <a:rPr dirty="0" sz="1300" spc="-2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our</a:t>
            </a:r>
            <a:r>
              <a:rPr dirty="0" sz="1300" spc="-2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chronological</a:t>
            </a:r>
            <a:r>
              <a:rPr dirty="0" sz="1300" spc="-3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split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66419" y="3779520"/>
          <a:ext cx="643636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1600"/>
                <a:gridCol w="3708400"/>
              </a:tblGrid>
              <a:tr h="3810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  <a:r>
                        <a:rPr dirty="0" sz="12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  <a:tc>
                  <a:txBody>
                    <a:bodyPr/>
                    <a:lstStyle/>
                    <a:p>
                      <a:pPr marL="13208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  <a:r>
                        <a:rPr dirty="0" sz="1200" spc="-45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D6DDE4"/>
                      </a:solidFill>
                      <a:prstDash val="solid"/>
                    </a:lnL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marL="13208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77.81%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  <a:r>
                        <a:rPr dirty="0" sz="1200" spc="-45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Macro-</a:t>
                      </a:r>
                      <a:r>
                        <a:rPr dirty="0" sz="1200" spc="-25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F1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D6DDE4"/>
                      </a:solidFill>
                      <a:prstDash val="solid"/>
                    </a:lnL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38.57%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71500" y="5334000"/>
            <a:ext cx="10960100" cy="508000"/>
          </a:xfrm>
          <a:prstGeom prst="rect">
            <a:avLst/>
          </a:prstGeom>
          <a:solidFill>
            <a:srgbClr val="E9EFF6"/>
          </a:solidFill>
          <a:ln w="10159">
            <a:solidFill>
              <a:srgbClr val="D6DDE4"/>
            </a:solidFill>
          </a:ln>
        </p:spPr>
        <p:txBody>
          <a:bodyPr wrap="square" lIns="0" tIns="165100" rIns="0" bIns="0" rtlCol="0" vert="horz">
            <a:spAutoFit/>
          </a:bodyPr>
          <a:lstStyle/>
          <a:p>
            <a:pPr marL="190500">
              <a:lnSpc>
                <a:spcPct val="100000"/>
              </a:lnSpc>
              <a:spcBef>
                <a:spcPts val="1300"/>
              </a:spcBef>
            </a:pP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Gap</a:t>
            </a:r>
            <a:r>
              <a:rPr dirty="0" sz="12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addressed:</a:t>
            </a:r>
            <a:r>
              <a:rPr dirty="0" sz="12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temporal</a:t>
            </a:r>
            <a:r>
              <a:rPr dirty="0" sz="12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6365D"/>
                </a:solidFill>
                <a:latin typeface="Calibri"/>
                <a:cs typeface="Calibri"/>
              </a:rPr>
              <a:t>generalization</a:t>
            </a:r>
            <a:r>
              <a:rPr dirty="0" sz="12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and</a:t>
            </a:r>
            <a:r>
              <a:rPr dirty="0" sz="12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class-balanced performance</a:t>
            </a:r>
            <a:r>
              <a:rPr dirty="0" sz="12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need</a:t>
            </a:r>
            <a:r>
              <a:rPr dirty="0" sz="12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to</a:t>
            </a:r>
            <a:r>
              <a:rPr dirty="0" sz="12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be</a:t>
            </a:r>
            <a:r>
              <a:rPr dirty="0" sz="12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measured </a:t>
            </a:r>
            <a:r>
              <a:rPr dirty="0" sz="1200" spc="-10" b="1">
                <a:solidFill>
                  <a:srgbClr val="16365D"/>
                </a:solidFill>
                <a:latin typeface="Calibri"/>
                <a:cs typeface="Calibri"/>
              </a:rPr>
              <a:t>explicitly.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919" y="6103620"/>
            <a:ext cx="11033760" cy="340360"/>
          </a:xfrm>
          <a:prstGeom prst="rect">
            <a:avLst/>
          </a:prstGeom>
          <a:solidFill>
            <a:srgbClr val="F2F4F9"/>
          </a:solidFill>
          <a:ln w="3175">
            <a:solidFill>
              <a:srgbClr val="F2F4F9"/>
            </a:solidFill>
          </a:ln>
        </p:spPr>
        <p:txBody>
          <a:bodyPr wrap="square" lIns="0" tIns="10033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790"/>
              </a:spcBef>
              <a:tabLst>
                <a:tab pos="995044" algn="l"/>
              </a:tabLst>
            </a:pP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IN ONE </a:t>
            </a:r>
            <a:r>
              <a:rPr dirty="0" sz="950" spc="-20">
                <a:solidFill>
                  <a:srgbClr val="232A31"/>
                </a:solidFill>
                <a:latin typeface="Calibri"/>
                <a:cs typeface="Calibri"/>
              </a:rPr>
              <a:t>LINE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	A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supervised baseline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looks acceptable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on accuracy but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is weak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on class-balanced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performance.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209546" y="6552015"/>
            <a:ext cx="335280" cy="1574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03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/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576474"/>
                </a:solidFill>
                <a:latin typeface="Calibri"/>
                <a:cs typeface="Calibri"/>
              </a:rPr>
              <a:t>10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dirty="0" spc="-65"/>
              <a:t> </a:t>
            </a:r>
            <a:r>
              <a:rPr dirty="0"/>
              <a:t>Proposed</a:t>
            </a:r>
            <a:r>
              <a:rPr dirty="0" spc="-60"/>
              <a:t> </a:t>
            </a:r>
            <a:r>
              <a:rPr dirty="0" spc="-10"/>
              <a:t>Novelty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7509" y="863600"/>
            <a:ext cx="11569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WHAT</a:t>
            </a: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THIS</a:t>
            </a:r>
            <a:r>
              <a:rPr dirty="0" sz="800" spc="-5" b="1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PROJECT</a:t>
            </a: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800" spc="-20" b="1">
                <a:solidFill>
                  <a:srgbClr val="232A31"/>
                </a:solidFill>
                <a:latin typeface="Calibri"/>
                <a:cs typeface="Calibri"/>
              </a:rPr>
              <a:t>ADDS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041400"/>
            <a:ext cx="10960100" cy="0"/>
          </a:xfrm>
          <a:custGeom>
            <a:avLst/>
            <a:gdLst/>
            <a:ahLst/>
            <a:cxnLst/>
            <a:rect l="l" t="t" r="r" b="b"/>
            <a:pathLst>
              <a:path w="10960100" h="0">
                <a:moveTo>
                  <a:pt x="0" y="0"/>
                </a:moveTo>
                <a:lnTo>
                  <a:pt x="10960100" y="0"/>
                </a:lnTo>
              </a:path>
            </a:pathLst>
          </a:custGeom>
          <a:ln w="19050">
            <a:solidFill>
              <a:srgbClr val="2F54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8800" y="1212850"/>
            <a:ext cx="431419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A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practical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self-supervised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pipeline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evaluated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under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a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realistic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time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split.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800" y="1562100"/>
            <a:ext cx="25952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F5497"/>
                </a:solidFill>
                <a:latin typeface="Calibri"/>
                <a:cs typeface="Calibri"/>
              </a:rPr>
              <a:t>A</a:t>
            </a:r>
            <a:r>
              <a:rPr dirty="0" sz="1400" spc="-2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2F5497"/>
                </a:solidFill>
                <a:latin typeface="Calibri"/>
                <a:cs typeface="Calibri"/>
              </a:rPr>
              <a:t>practical</a:t>
            </a:r>
            <a:r>
              <a:rPr dirty="0" sz="1400" spc="-2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2F5497"/>
                </a:solidFill>
                <a:latin typeface="Calibri"/>
                <a:cs typeface="Calibri"/>
              </a:rPr>
              <a:t>self-supervised</a:t>
            </a:r>
            <a:r>
              <a:rPr dirty="0" sz="1400" spc="-2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2F5497"/>
                </a:solidFill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08800" y="1562100"/>
            <a:ext cx="18205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F5497"/>
                </a:solidFill>
                <a:latin typeface="Calibri"/>
                <a:cs typeface="Calibri"/>
              </a:rPr>
              <a:t>Measured </a:t>
            </a:r>
            <a:r>
              <a:rPr dirty="0" sz="1400" spc="-10" b="1">
                <a:solidFill>
                  <a:srgbClr val="2F5497"/>
                </a:solidFill>
                <a:latin typeface="Calibri"/>
                <a:cs typeface="Calibri"/>
              </a:rPr>
              <a:t>improvement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6419" y="1925320"/>
            <a:ext cx="5979160" cy="772160"/>
            <a:chOff x="566419" y="1925320"/>
            <a:chExt cx="5979160" cy="772160"/>
          </a:xfrm>
        </p:grpSpPr>
        <p:sp>
          <p:nvSpPr>
            <p:cNvPr id="11" name="object 11"/>
            <p:cNvSpPr/>
            <p:nvPr/>
          </p:nvSpPr>
          <p:spPr>
            <a:xfrm>
              <a:off x="634999" y="1930400"/>
              <a:ext cx="5905500" cy="762000"/>
            </a:xfrm>
            <a:custGeom>
              <a:avLst/>
              <a:gdLst/>
              <a:ahLst/>
              <a:cxnLst/>
              <a:rect l="l" t="t" r="r" b="b"/>
              <a:pathLst>
                <a:path w="5905500" h="762000">
                  <a:moveTo>
                    <a:pt x="0" y="762000"/>
                  </a:moveTo>
                  <a:lnTo>
                    <a:pt x="5905500" y="762000"/>
                  </a:lnTo>
                  <a:lnTo>
                    <a:pt x="59055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2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71499" y="1930400"/>
              <a:ext cx="5969000" cy="762000"/>
            </a:xfrm>
            <a:custGeom>
              <a:avLst/>
              <a:gdLst/>
              <a:ahLst/>
              <a:cxnLst/>
              <a:rect l="l" t="t" r="r" b="b"/>
              <a:pathLst>
                <a:path w="5969000" h="762000">
                  <a:moveTo>
                    <a:pt x="0" y="762000"/>
                  </a:moveTo>
                  <a:lnTo>
                    <a:pt x="5969000" y="762000"/>
                  </a:lnTo>
                  <a:lnTo>
                    <a:pt x="59690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10160">
              <a:solidFill>
                <a:srgbClr val="D6DD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1499" y="1930400"/>
              <a:ext cx="63500" cy="762000"/>
            </a:xfrm>
            <a:custGeom>
              <a:avLst/>
              <a:gdLst/>
              <a:ahLst/>
              <a:cxnLst/>
              <a:rect l="l" t="t" r="r" b="b"/>
              <a:pathLst>
                <a:path w="63500" h="762000">
                  <a:moveTo>
                    <a:pt x="635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63500" y="762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35000" y="2070100"/>
            <a:ext cx="59004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Train</a:t>
            </a:r>
            <a:r>
              <a:rPr dirty="0" sz="1300" spc="-3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an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autoencoder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to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learn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a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compact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32A31"/>
                </a:solidFill>
                <a:latin typeface="Calibri"/>
                <a:cs typeface="Calibri"/>
              </a:rPr>
              <a:t>representation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from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traffic</a:t>
            </a:r>
            <a:r>
              <a:rPr dirty="0" sz="130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32A31"/>
                </a:solidFill>
                <a:latin typeface="Calibri"/>
                <a:cs typeface="Calibri"/>
              </a:rPr>
              <a:t>features.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66419" y="2814320"/>
            <a:ext cx="5979160" cy="772160"/>
            <a:chOff x="566419" y="2814320"/>
            <a:chExt cx="5979160" cy="772160"/>
          </a:xfrm>
        </p:grpSpPr>
        <p:sp>
          <p:nvSpPr>
            <p:cNvPr id="16" name="object 16"/>
            <p:cNvSpPr/>
            <p:nvPr/>
          </p:nvSpPr>
          <p:spPr>
            <a:xfrm>
              <a:off x="634999" y="2819400"/>
              <a:ext cx="5905500" cy="762000"/>
            </a:xfrm>
            <a:custGeom>
              <a:avLst/>
              <a:gdLst/>
              <a:ahLst/>
              <a:cxnLst/>
              <a:rect l="l" t="t" r="r" b="b"/>
              <a:pathLst>
                <a:path w="5905500" h="762000">
                  <a:moveTo>
                    <a:pt x="0" y="762000"/>
                  </a:moveTo>
                  <a:lnTo>
                    <a:pt x="5905500" y="762000"/>
                  </a:lnTo>
                  <a:lnTo>
                    <a:pt x="59055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2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1499" y="2819400"/>
              <a:ext cx="5969000" cy="762000"/>
            </a:xfrm>
            <a:custGeom>
              <a:avLst/>
              <a:gdLst/>
              <a:ahLst/>
              <a:cxnLst/>
              <a:rect l="l" t="t" r="r" b="b"/>
              <a:pathLst>
                <a:path w="5969000" h="762000">
                  <a:moveTo>
                    <a:pt x="0" y="762000"/>
                  </a:moveTo>
                  <a:lnTo>
                    <a:pt x="5969000" y="762000"/>
                  </a:lnTo>
                  <a:lnTo>
                    <a:pt x="59690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10160">
              <a:solidFill>
                <a:srgbClr val="D6DD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71499" y="2819400"/>
              <a:ext cx="63500" cy="762000"/>
            </a:xfrm>
            <a:custGeom>
              <a:avLst/>
              <a:gdLst/>
              <a:ahLst/>
              <a:cxnLst/>
              <a:rect l="l" t="t" r="r" b="b"/>
              <a:pathLst>
                <a:path w="63500" h="762000">
                  <a:moveTo>
                    <a:pt x="635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63500" y="762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35000" y="2959100"/>
            <a:ext cx="59004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Use</a:t>
            </a:r>
            <a:r>
              <a:rPr dirty="0" sz="130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the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learned</a:t>
            </a:r>
            <a:r>
              <a:rPr dirty="0" sz="130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32A31"/>
                </a:solidFill>
                <a:latin typeface="Calibri"/>
                <a:cs typeface="Calibri"/>
              </a:rPr>
              <a:t>representation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in</a:t>
            </a:r>
            <a:r>
              <a:rPr dirty="0" sz="130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the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downstream</a:t>
            </a:r>
            <a:r>
              <a:rPr dirty="0" sz="130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classification</a:t>
            </a:r>
            <a:r>
              <a:rPr dirty="0" sz="130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32A31"/>
                </a:solidFill>
                <a:latin typeface="Calibri"/>
                <a:cs typeface="Calibri"/>
              </a:rPr>
              <a:t>pipeline.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6916419" y="1925320"/>
          <a:ext cx="4696460" cy="139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1790"/>
                <a:gridCol w="2988945"/>
              </a:tblGrid>
              <a:tr h="3810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825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3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Gain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825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300" spc="-1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D6DDE4"/>
                      </a:solidFill>
                      <a:prstDash val="solid"/>
                    </a:lnL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3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+8.66</a:t>
                      </a:r>
                      <a:r>
                        <a:rPr dirty="0" sz="130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pts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46050"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300" spc="-1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Macro-</a:t>
                      </a:r>
                      <a:r>
                        <a:rPr dirty="0" sz="1300" spc="-25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F1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D6DDE4"/>
                      </a:solidFill>
                      <a:prstDash val="solid"/>
                    </a:lnL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661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3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+10.24</a:t>
                      </a:r>
                      <a:r>
                        <a:rPr dirty="0" sz="1300" spc="-4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00" spc="-2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pts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46050"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6908800" y="3395979"/>
            <a:ext cx="3903345" cy="43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Percentage-point</a:t>
            </a:r>
            <a:r>
              <a:rPr dirty="0" sz="12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gain</a:t>
            </a:r>
            <a:r>
              <a:rPr dirty="0" sz="12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over the</a:t>
            </a:r>
            <a:r>
              <a:rPr dirty="0" sz="12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fair</a:t>
            </a:r>
            <a:r>
              <a:rPr dirty="0" sz="12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temporal baseline</a:t>
            </a:r>
            <a:r>
              <a:rPr dirty="0" sz="12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(seed</a:t>
            </a:r>
            <a:r>
              <a:rPr dirty="0" sz="12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76474"/>
                </a:solidFill>
                <a:latin typeface="Calibri"/>
                <a:cs typeface="Calibri"/>
              </a:rPr>
              <a:t>42 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comparison).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6419" y="3703320"/>
            <a:ext cx="5979160" cy="772160"/>
            <a:chOff x="566419" y="3703320"/>
            <a:chExt cx="5979160" cy="772160"/>
          </a:xfrm>
        </p:grpSpPr>
        <p:sp>
          <p:nvSpPr>
            <p:cNvPr id="21" name="object 21"/>
            <p:cNvSpPr/>
            <p:nvPr/>
          </p:nvSpPr>
          <p:spPr>
            <a:xfrm>
              <a:off x="634999" y="3708400"/>
              <a:ext cx="5905500" cy="762000"/>
            </a:xfrm>
            <a:custGeom>
              <a:avLst/>
              <a:gdLst/>
              <a:ahLst/>
              <a:cxnLst/>
              <a:rect l="l" t="t" r="r" b="b"/>
              <a:pathLst>
                <a:path w="5905500" h="762000">
                  <a:moveTo>
                    <a:pt x="0" y="762000"/>
                  </a:moveTo>
                  <a:lnTo>
                    <a:pt x="5905500" y="762000"/>
                  </a:lnTo>
                  <a:lnTo>
                    <a:pt x="59055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2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71499" y="3708400"/>
              <a:ext cx="5969000" cy="762000"/>
            </a:xfrm>
            <a:custGeom>
              <a:avLst/>
              <a:gdLst/>
              <a:ahLst/>
              <a:cxnLst/>
              <a:rect l="l" t="t" r="r" b="b"/>
              <a:pathLst>
                <a:path w="5969000" h="762000">
                  <a:moveTo>
                    <a:pt x="0" y="762000"/>
                  </a:moveTo>
                  <a:lnTo>
                    <a:pt x="5969000" y="762000"/>
                  </a:lnTo>
                  <a:lnTo>
                    <a:pt x="59690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10160">
              <a:solidFill>
                <a:srgbClr val="D6DD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1499" y="3708400"/>
              <a:ext cx="63500" cy="762000"/>
            </a:xfrm>
            <a:custGeom>
              <a:avLst/>
              <a:gdLst/>
              <a:ahLst/>
              <a:cxnLst/>
              <a:rect l="l" t="t" r="r" b="b"/>
              <a:pathLst>
                <a:path w="63500" h="762000">
                  <a:moveTo>
                    <a:pt x="635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63500" y="762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35000" y="3848100"/>
            <a:ext cx="59004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Evaluate</a:t>
            </a:r>
            <a:r>
              <a:rPr dirty="0" sz="1300" spc="-4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using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a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chronological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split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to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expose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distribution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32A31"/>
                </a:solidFill>
                <a:latin typeface="Calibri"/>
                <a:cs typeface="Calibri"/>
              </a:rPr>
              <a:t>shift.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21500" y="4127500"/>
            <a:ext cx="4610100" cy="635000"/>
          </a:xfrm>
          <a:prstGeom prst="rect">
            <a:avLst/>
          </a:prstGeom>
          <a:solidFill>
            <a:srgbClr val="FBEDE9"/>
          </a:solidFill>
          <a:ln w="10159">
            <a:solidFill>
              <a:srgbClr val="E8B8AE"/>
            </a:solidFill>
          </a:ln>
        </p:spPr>
        <p:txBody>
          <a:bodyPr wrap="square" lIns="0" tIns="120650" rIns="0" bIns="0" rtlCol="0" vert="horz">
            <a:spAutoFit/>
          </a:bodyPr>
          <a:lstStyle/>
          <a:p>
            <a:pPr marL="190500">
              <a:lnSpc>
                <a:spcPct val="100000"/>
              </a:lnSpc>
              <a:spcBef>
                <a:spcPts val="950"/>
              </a:spcBef>
            </a:pP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Not</a:t>
            </a:r>
            <a:r>
              <a:rPr dirty="0" sz="1250" spc="-2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a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claim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of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solving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all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drift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or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9C2A1A"/>
                </a:solidFill>
                <a:latin typeface="Calibri"/>
                <a:cs typeface="Calibri"/>
              </a:rPr>
              <a:t>imbalance.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66419" y="4592320"/>
            <a:ext cx="5979160" cy="772160"/>
            <a:chOff x="566419" y="4592320"/>
            <a:chExt cx="5979160" cy="772160"/>
          </a:xfrm>
        </p:grpSpPr>
        <p:sp>
          <p:nvSpPr>
            <p:cNvPr id="26" name="object 26"/>
            <p:cNvSpPr/>
            <p:nvPr/>
          </p:nvSpPr>
          <p:spPr>
            <a:xfrm>
              <a:off x="634999" y="4597400"/>
              <a:ext cx="5905500" cy="762000"/>
            </a:xfrm>
            <a:custGeom>
              <a:avLst/>
              <a:gdLst/>
              <a:ahLst/>
              <a:cxnLst/>
              <a:rect l="l" t="t" r="r" b="b"/>
              <a:pathLst>
                <a:path w="5905500" h="762000">
                  <a:moveTo>
                    <a:pt x="0" y="762000"/>
                  </a:moveTo>
                  <a:lnTo>
                    <a:pt x="5905500" y="762000"/>
                  </a:lnTo>
                  <a:lnTo>
                    <a:pt x="59055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2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71499" y="4597400"/>
              <a:ext cx="5969000" cy="762000"/>
            </a:xfrm>
            <a:custGeom>
              <a:avLst/>
              <a:gdLst/>
              <a:ahLst/>
              <a:cxnLst/>
              <a:rect l="l" t="t" r="r" b="b"/>
              <a:pathLst>
                <a:path w="5969000" h="762000">
                  <a:moveTo>
                    <a:pt x="0" y="762000"/>
                  </a:moveTo>
                  <a:lnTo>
                    <a:pt x="5969000" y="762000"/>
                  </a:lnTo>
                  <a:lnTo>
                    <a:pt x="59690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10160">
              <a:solidFill>
                <a:srgbClr val="D6DD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71499" y="4597400"/>
              <a:ext cx="63500" cy="762000"/>
            </a:xfrm>
            <a:custGeom>
              <a:avLst/>
              <a:gdLst/>
              <a:ahLst/>
              <a:cxnLst/>
              <a:rect l="l" t="t" r="r" b="b"/>
              <a:pathLst>
                <a:path w="63500" h="762000">
                  <a:moveTo>
                    <a:pt x="635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63500" y="76200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35000" y="4737100"/>
            <a:ext cx="59004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Compare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against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a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supervised</a:t>
            </a:r>
            <a:r>
              <a:rPr dirty="0" sz="1300" spc="-4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temporal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baseline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using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accuracy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130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232A31"/>
                </a:solidFill>
                <a:latin typeface="Calibri"/>
                <a:cs typeface="Calibri"/>
              </a:rPr>
              <a:t>Macro-</a:t>
            </a:r>
            <a:r>
              <a:rPr dirty="0" sz="1300" spc="-25">
                <a:solidFill>
                  <a:srgbClr val="232A31"/>
                </a:solidFill>
                <a:latin typeface="Calibri"/>
                <a:cs typeface="Calibri"/>
              </a:rPr>
              <a:t>F1.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2919" y="6103620"/>
            <a:ext cx="11033760" cy="340360"/>
            <a:chOff x="502919" y="6103620"/>
            <a:chExt cx="11033760" cy="340360"/>
          </a:xfrm>
        </p:grpSpPr>
        <p:sp>
          <p:nvSpPr>
            <p:cNvPr id="7" name="object 7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110236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1023600" y="330200"/>
                  </a:lnTo>
                  <a:lnTo>
                    <a:pt x="11023600" y="0"/>
                  </a:lnTo>
                  <a:close/>
                </a:path>
              </a:pathLst>
            </a:custGeom>
            <a:solidFill>
              <a:srgbClr val="F2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0" y="330200"/>
                  </a:moveTo>
                  <a:lnTo>
                    <a:pt x="11023600" y="330200"/>
                  </a:lnTo>
                  <a:lnTo>
                    <a:pt x="11023600" y="0"/>
                  </a:lnTo>
                  <a:lnTo>
                    <a:pt x="0" y="0"/>
                  </a:lnTo>
                  <a:lnTo>
                    <a:pt x="0" y="330200"/>
                  </a:lnTo>
                  <a:close/>
                </a:path>
              </a:pathLst>
            </a:custGeom>
            <a:ln w="10160">
              <a:solidFill>
                <a:srgbClr val="F2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485900" y="6197023"/>
            <a:ext cx="4274820" cy="1727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Combine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representation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learning with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a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more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realistic time-based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evaluation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protocol.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1209546" y="6552015"/>
            <a:ext cx="335280" cy="1574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04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/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576474"/>
                </a:solidFill>
                <a:latin typeface="Calibri"/>
                <a:cs typeface="Calibri"/>
              </a:rPr>
              <a:t>10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dirty="0" spc="-55"/>
              <a:t> </a:t>
            </a:r>
            <a:r>
              <a:rPr dirty="0"/>
              <a:t>Architecture</a:t>
            </a:r>
            <a:r>
              <a:rPr dirty="0" spc="-50"/>
              <a:t> </a:t>
            </a:r>
            <a:r>
              <a:rPr dirty="0"/>
              <a:t>/</a:t>
            </a:r>
            <a:r>
              <a:rPr dirty="0" spc="-50"/>
              <a:t> </a:t>
            </a:r>
            <a:r>
              <a:rPr dirty="0" spc="-1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82324" y="863600"/>
            <a:ext cx="9620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END-TO-END </a:t>
            </a: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PIPELINE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041400"/>
            <a:ext cx="10960100" cy="0"/>
          </a:xfrm>
          <a:custGeom>
            <a:avLst/>
            <a:gdLst/>
            <a:ahLst/>
            <a:cxnLst/>
            <a:rect l="l" t="t" r="r" b="b"/>
            <a:pathLst>
              <a:path w="10960100" h="0">
                <a:moveTo>
                  <a:pt x="0" y="0"/>
                </a:moveTo>
                <a:lnTo>
                  <a:pt x="10960100" y="0"/>
                </a:lnTo>
              </a:path>
            </a:pathLst>
          </a:custGeom>
          <a:ln w="19050">
            <a:solidFill>
              <a:srgbClr val="2F54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8800" y="1212850"/>
            <a:ext cx="259080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Six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stages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from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raw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CSV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data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to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evaluation.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500" y="1905000"/>
            <a:ext cx="1587500" cy="1905000"/>
          </a:xfrm>
          <a:prstGeom prst="rect">
            <a:avLst/>
          </a:prstGeom>
          <a:solidFill>
            <a:srgbClr val="F2F4F9"/>
          </a:solidFill>
          <a:ln w="10160">
            <a:solidFill>
              <a:srgbClr val="D6DDE4"/>
            </a:solidFill>
          </a:ln>
        </p:spPr>
        <p:txBody>
          <a:bodyPr wrap="square" lIns="0" tIns="12700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0"/>
              </a:spcBef>
            </a:pPr>
            <a:r>
              <a:rPr dirty="0" sz="1600" spc="-50" b="1">
                <a:solidFill>
                  <a:srgbClr val="2F5497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  <a:spcBef>
                <a:spcPts val="880"/>
              </a:spcBef>
            </a:pPr>
            <a:r>
              <a:rPr dirty="0" sz="1400" spc="-20" b="1">
                <a:solidFill>
                  <a:srgbClr val="16365D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marL="152400" marR="453390">
              <a:lnSpc>
                <a:spcPct val="108700"/>
              </a:lnSpc>
              <a:spcBef>
                <a:spcPts val="850"/>
              </a:spcBef>
            </a:pP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CIC-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Darknet</a:t>
            </a:r>
            <a:r>
              <a:rPr dirty="0" sz="11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232A31"/>
                </a:solidFill>
                <a:latin typeface="Calibri"/>
                <a:cs typeface="Calibri"/>
              </a:rPr>
              <a:t>CSV 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dataset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97100" y="2819400"/>
            <a:ext cx="210820" cy="76200"/>
            <a:chOff x="2197100" y="2819400"/>
            <a:chExt cx="210820" cy="76200"/>
          </a:xfrm>
        </p:grpSpPr>
        <p:sp>
          <p:nvSpPr>
            <p:cNvPr id="11" name="object 11"/>
            <p:cNvSpPr/>
            <p:nvPr/>
          </p:nvSpPr>
          <p:spPr>
            <a:xfrm>
              <a:off x="2197100" y="2857500"/>
              <a:ext cx="160020" cy="0"/>
            </a:xfrm>
            <a:custGeom>
              <a:avLst/>
              <a:gdLst/>
              <a:ahLst/>
              <a:cxnLst/>
              <a:rect l="l" t="t" r="r" b="b"/>
              <a:pathLst>
                <a:path w="160019" h="0">
                  <a:moveTo>
                    <a:pt x="0" y="0"/>
                  </a:moveTo>
                  <a:lnTo>
                    <a:pt x="160019" y="0"/>
                  </a:lnTo>
                </a:path>
              </a:pathLst>
            </a:custGeom>
            <a:ln w="17780">
              <a:solidFill>
                <a:srgbClr val="2F54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344420" y="2819400"/>
              <a:ext cx="63500" cy="76200"/>
            </a:xfrm>
            <a:custGeom>
              <a:avLst/>
              <a:gdLst/>
              <a:ahLst/>
              <a:cxnLst/>
              <a:rect l="l" t="t" r="r" b="b"/>
              <a:pathLst>
                <a:path w="63500" h="76200">
                  <a:moveTo>
                    <a:pt x="0" y="0"/>
                  </a:moveTo>
                  <a:lnTo>
                    <a:pt x="0" y="76200"/>
                  </a:lnTo>
                  <a:lnTo>
                    <a:pt x="635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446020" y="1905000"/>
            <a:ext cx="1587500" cy="19050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2700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0"/>
              </a:spcBef>
            </a:pPr>
            <a:r>
              <a:rPr dirty="0" sz="1600" spc="-50" b="1">
                <a:solidFill>
                  <a:srgbClr val="2F5497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  <a:spcBef>
                <a:spcPts val="880"/>
              </a:spcBef>
            </a:pPr>
            <a:r>
              <a:rPr dirty="0" sz="1400" spc="-10" b="1">
                <a:solidFill>
                  <a:srgbClr val="16365D"/>
                </a:solidFill>
                <a:latin typeface="Calibri"/>
                <a:cs typeface="Calibri"/>
              </a:rPr>
              <a:t>Clean</a:t>
            </a:r>
            <a:endParaRPr sz="1400">
              <a:latin typeface="Calibri"/>
              <a:cs typeface="Calibri"/>
            </a:endParaRPr>
          </a:p>
          <a:p>
            <a:pPr marL="152400" marR="138430">
              <a:lnSpc>
                <a:spcPct val="108700"/>
              </a:lnSpc>
              <a:spcBef>
                <a:spcPts val="850"/>
              </a:spcBef>
            </a:pP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Drop</a:t>
            </a:r>
            <a:r>
              <a:rPr dirty="0" sz="11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identifiers;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232A31"/>
                </a:solidFill>
                <a:latin typeface="Calibri"/>
                <a:cs typeface="Calibri"/>
              </a:rPr>
              <a:t>keep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64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numeric</a:t>
            </a:r>
            <a:r>
              <a:rPr dirty="0" sz="11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features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71620" y="2819400"/>
            <a:ext cx="210820" cy="76200"/>
            <a:chOff x="4071620" y="2819400"/>
            <a:chExt cx="210820" cy="76200"/>
          </a:xfrm>
        </p:grpSpPr>
        <p:sp>
          <p:nvSpPr>
            <p:cNvPr id="15" name="object 15"/>
            <p:cNvSpPr/>
            <p:nvPr/>
          </p:nvSpPr>
          <p:spPr>
            <a:xfrm>
              <a:off x="4071620" y="2857500"/>
              <a:ext cx="160020" cy="0"/>
            </a:xfrm>
            <a:custGeom>
              <a:avLst/>
              <a:gdLst/>
              <a:ahLst/>
              <a:cxnLst/>
              <a:rect l="l" t="t" r="r" b="b"/>
              <a:pathLst>
                <a:path w="160020" h="0">
                  <a:moveTo>
                    <a:pt x="0" y="0"/>
                  </a:moveTo>
                  <a:lnTo>
                    <a:pt x="160019" y="0"/>
                  </a:lnTo>
                </a:path>
              </a:pathLst>
            </a:custGeom>
            <a:ln w="17780">
              <a:solidFill>
                <a:srgbClr val="2F54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218940" y="2819400"/>
              <a:ext cx="63500" cy="76200"/>
            </a:xfrm>
            <a:custGeom>
              <a:avLst/>
              <a:gdLst/>
              <a:ahLst/>
              <a:cxnLst/>
              <a:rect l="l" t="t" r="r" b="b"/>
              <a:pathLst>
                <a:path w="63500" h="76200">
                  <a:moveTo>
                    <a:pt x="0" y="0"/>
                  </a:moveTo>
                  <a:lnTo>
                    <a:pt x="0" y="76200"/>
                  </a:lnTo>
                  <a:lnTo>
                    <a:pt x="635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320540" y="1905000"/>
            <a:ext cx="1587500" cy="19050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2700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0"/>
              </a:spcBef>
            </a:pPr>
            <a:r>
              <a:rPr dirty="0" sz="1600" spc="-50" b="1">
                <a:solidFill>
                  <a:srgbClr val="2F5497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  <a:spcBef>
                <a:spcPts val="880"/>
              </a:spcBef>
            </a:pPr>
            <a:r>
              <a:rPr dirty="0" sz="1400" spc="-10" b="1">
                <a:solidFill>
                  <a:srgbClr val="16365D"/>
                </a:solidFill>
                <a:latin typeface="Calibri"/>
                <a:cs typeface="Calibri"/>
              </a:rPr>
              <a:t>Split</a:t>
            </a:r>
            <a:endParaRPr sz="1400">
              <a:latin typeface="Calibri"/>
              <a:cs typeface="Calibri"/>
            </a:endParaRPr>
          </a:p>
          <a:p>
            <a:pPr marL="152400" marR="192405">
              <a:lnSpc>
                <a:spcPct val="108700"/>
              </a:lnSpc>
              <a:spcBef>
                <a:spcPts val="850"/>
              </a:spcBef>
            </a:pP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Chronological</a:t>
            </a:r>
            <a:r>
              <a:rPr dirty="0" sz="1150" spc="6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split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before</a:t>
            </a:r>
            <a:r>
              <a:rPr dirty="0" sz="11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/</a:t>
            </a:r>
            <a:r>
              <a:rPr dirty="0" sz="11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after</a:t>
            </a:r>
            <a:r>
              <a:rPr dirty="0" sz="11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24</a:t>
            </a:r>
            <a:r>
              <a:rPr dirty="0" sz="11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232A31"/>
                </a:solidFill>
                <a:latin typeface="Calibri"/>
                <a:cs typeface="Calibri"/>
              </a:rPr>
              <a:t>Feb </a:t>
            </a:r>
            <a:r>
              <a:rPr dirty="0" sz="1150" spc="-20">
                <a:solidFill>
                  <a:srgbClr val="232A31"/>
                </a:solidFill>
                <a:latin typeface="Calibri"/>
                <a:cs typeface="Calibri"/>
              </a:rPr>
              <a:t>2016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46140" y="2819400"/>
            <a:ext cx="210820" cy="76200"/>
            <a:chOff x="5946140" y="2819400"/>
            <a:chExt cx="210820" cy="76200"/>
          </a:xfrm>
        </p:grpSpPr>
        <p:sp>
          <p:nvSpPr>
            <p:cNvPr id="19" name="object 19"/>
            <p:cNvSpPr/>
            <p:nvPr/>
          </p:nvSpPr>
          <p:spPr>
            <a:xfrm>
              <a:off x="5946140" y="2857500"/>
              <a:ext cx="160020" cy="0"/>
            </a:xfrm>
            <a:custGeom>
              <a:avLst/>
              <a:gdLst/>
              <a:ahLst/>
              <a:cxnLst/>
              <a:rect l="l" t="t" r="r" b="b"/>
              <a:pathLst>
                <a:path w="160020" h="0">
                  <a:moveTo>
                    <a:pt x="0" y="0"/>
                  </a:moveTo>
                  <a:lnTo>
                    <a:pt x="160020" y="0"/>
                  </a:lnTo>
                </a:path>
              </a:pathLst>
            </a:custGeom>
            <a:ln w="17780">
              <a:solidFill>
                <a:srgbClr val="2F54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093460" y="2819400"/>
              <a:ext cx="63500" cy="76200"/>
            </a:xfrm>
            <a:custGeom>
              <a:avLst/>
              <a:gdLst/>
              <a:ahLst/>
              <a:cxnLst/>
              <a:rect l="l" t="t" r="r" b="b"/>
              <a:pathLst>
                <a:path w="63500" h="76200">
                  <a:moveTo>
                    <a:pt x="0" y="0"/>
                  </a:moveTo>
                  <a:lnTo>
                    <a:pt x="0" y="76200"/>
                  </a:lnTo>
                  <a:lnTo>
                    <a:pt x="635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195059" y="1905000"/>
            <a:ext cx="1587500" cy="1905000"/>
          </a:xfrm>
          <a:prstGeom prst="rect">
            <a:avLst/>
          </a:prstGeom>
          <a:solidFill>
            <a:srgbClr val="E9EFF6"/>
          </a:solidFill>
          <a:ln w="10159">
            <a:solidFill>
              <a:srgbClr val="D6DDE4"/>
            </a:solidFill>
          </a:ln>
        </p:spPr>
        <p:txBody>
          <a:bodyPr wrap="square" lIns="0" tIns="12700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0"/>
              </a:spcBef>
            </a:pPr>
            <a:r>
              <a:rPr dirty="0" sz="1600" spc="-50" b="1">
                <a:solidFill>
                  <a:srgbClr val="2F5497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  <a:spcBef>
                <a:spcPts val="880"/>
              </a:spcBef>
            </a:pPr>
            <a:r>
              <a:rPr dirty="0" sz="1400" spc="-10" b="1">
                <a:solidFill>
                  <a:srgbClr val="16365D"/>
                </a:solidFill>
                <a:latin typeface="Calibri"/>
                <a:cs typeface="Calibri"/>
              </a:rPr>
              <a:t>Learn</a:t>
            </a:r>
            <a:endParaRPr sz="1400">
              <a:latin typeface="Calibri"/>
              <a:cs typeface="Calibri"/>
            </a:endParaRPr>
          </a:p>
          <a:p>
            <a:pPr marL="152400" marR="257810">
              <a:lnSpc>
                <a:spcPct val="108700"/>
              </a:lnSpc>
              <a:spcBef>
                <a:spcPts val="850"/>
              </a:spcBef>
            </a:pP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Autoencoder</a:t>
            </a:r>
            <a:r>
              <a:rPr dirty="0" sz="1150" spc="-6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learns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compact 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features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820659" y="2819400"/>
            <a:ext cx="210820" cy="76200"/>
            <a:chOff x="7820659" y="2819400"/>
            <a:chExt cx="210820" cy="76200"/>
          </a:xfrm>
        </p:grpSpPr>
        <p:sp>
          <p:nvSpPr>
            <p:cNvPr id="23" name="object 23"/>
            <p:cNvSpPr/>
            <p:nvPr/>
          </p:nvSpPr>
          <p:spPr>
            <a:xfrm>
              <a:off x="7820659" y="2857500"/>
              <a:ext cx="160020" cy="0"/>
            </a:xfrm>
            <a:custGeom>
              <a:avLst/>
              <a:gdLst/>
              <a:ahLst/>
              <a:cxnLst/>
              <a:rect l="l" t="t" r="r" b="b"/>
              <a:pathLst>
                <a:path w="160020" h="0">
                  <a:moveTo>
                    <a:pt x="0" y="0"/>
                  </a:moveTo>
                  <a:lnTo>
                    <a:pt x="160020" y="0"/>
                  </a:lnTo>
                </a:path>
              </a:pathLst>
            </a:custGeom>
            <a:ln w="17780">
              <a:solidFill>
                <a:srgbClr val="2F54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967979" y="2819400"/>
              <a:ext cx="63500" cy="76200"/>
            </a:xfrm>
            <a:custGeom>
              <a:avLst/>
              <a:gdLst/>
              <a:ahLst/>
              <a:cxnLst/>
              <a:rect l="l" t="t" r="r" b="b"/>
              <a:pathLst>
                <a:path w="63500" h="76200">
                  <a:moveTo>
                    <a:pt x="0" y="0"/>
                  </a:moveTo>
                  <a:lnTo>
                    <a:pt x="0" y="76200"/>
                  </a:lnTo>
                  <a:lnTo>
                    <a:pt x="635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069580" y="1905000"/>
            <a:ext cx="1587500" cy="19050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2700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0"/>
              </a:spcBef>
            </a:pPr>
            <a:r>
              <a:rPr dirty="0" sz="1600" spc="-50" b="1">
                <a:solidFill>
                  <a:srgbClr val="2F5497"/>
                </a:solidFill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  <a:spcBef>
                <a:spcPts val="880"/>
              </a:spcBef>
            </a:pPr>
            <a:r>
              <a:rPr dirty="0" sz="1400" spc="-10" b="1">
                <a:solidFill>
                  <a:srgbClr val="16365D"/>
                </a:solidFill>
                <a:latin typeface="Calibri"/>
                <a:cs typeface="Calibri"/>
              </a:rPr>
              <a:t>Classify</a:t>
            </a:r>
            <a:endParaRPr sz="1400">
              <a:latin typeface="Calibri"/>
              <a:cs typeface="Calibri"/>
            </a:endParaRPr>
          </a:p>
          <a:p>
            <a:pPr marL="152400" marR="401320">
              <a:lnSpc>
                <a:spcPct val="108700"/>
              </a:lnSpc>
              <a:spcBef>
                <a:spcPts val="850"/>
              </a:spcBef>
            </a:pP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Downstream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classifier 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predicts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application 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class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695180" y="2819400"/>
            <a:ext cx="210820" cy="76200"/>
            <a:chOff x="9695180" y="2819400"/>
            <a:chExt cx="210820" cy="76200"/>
          </a:xfrm>
        </p:grpSpPr>
        <p:sp>
          <p:nvSpPr>
            <p:cNvPr id="27" name="object 27"/>
            <p:cNvSpPr/>
            <p:nvPr/>
          </p:nvSpPr>
          <p:spPr>
            <a:xfrm>
              <a:off x="9695180" y="2857500"/>
              <a:ext cx="160020" cy="0"/>
            </a:xfrm>
            <a:custGeom>
              <a:avLst/>
              <a:gdLst/>
              <a:ahLst/>
              <a:cxnLst/>
              <a:rect l="l" t="t" r="r" b="b"/>
              <a:pathLst>
                <a:path w="160020" h="0">
                  <a:moveTo>
                    <a:pt x="0" y="0"/>
                  </a:moveTo>
                  <a:lnTo>
                    <a:pt x="160020" y="0"/>
                  </a:lnTo>
                </a:path>
              </a:pathLst>
            </a:custGeom>
            <a:ln w="17780">
              <a:solidFill>
                <a:srgbClr val="2F54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842500" y="2819400"/>
              <a:ext cx="63500" cy="76200"/>
            </a:xfrm>
            <a:custGeom>
              <a:avLst/>
              <a:gdLst/>
              <a:ahLst/>
              <a:cxnLst/>
              <a:rect l="l" t="t" r="r" b="b"/>
              <a:pathLst>
                <a:path w="63500" h="76200">
                  <a:moveTo>
                    <a:pt x="0" y="0"/>
                  </a:moveTo>
                  <a:lnTo>
                    <a:pt x="0" y="76200"/>
                  </a:lnTo>
                  <a:lnTo>
                    <a:pt x="635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9944100" y="1905000"/>
            <a:ext cx="1587500" cy="19050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2700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0"/>
              </a:spcBef>
            </a:pPr>
            <a:r>
              <a:rPr dirty="0" sz="1600" spc="-50" b="1">
                <a:solidFill>
                  <a:srgbClr val="2F5497"/>
                </a:solidFill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  <a:spcBef>
                <a:spcPts val="880"/>
              </a:spcBef>
            </a:pPr>
            <a:r>
              <a:rPr dirty="0" sz="1400" spc="-10" b="1">
                <a:solidFill>
                  <a:srgbClr val="16365D"/>
                </a:solidFill>
                <a:latin typeface="Calibri"/>
                <a:cs typeface="Calibri"/>
              </a:rPr>
              <a:t>Evaluate</a:t>
            </a:r>
            <a:endParaRPr sz="1400">
              <a:latin typeface="Calibri"/>
              <a:cs typeface="Calibri"/>
            </a:endParaRPr>
          </a:p>
          <a:p>
            <a:pPr marL="152400" marR="217170">
              <a:lnSpc>
                <a:spcPct val="108700"/>
              </a:lnSpc>
              <a:spcBef>
                <a:spcPts val="850"/>
              </a:spcBef>
            </a:pP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Accuracy,</a:t>
            </a:r>
            <a:r>
              <a:rPr dirty="0" sz="1150" spc="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Macro-</a:t>
            </a:r>
            <a:r>
              <a:rPr dirty="0" sz="1150" spc="-25">
                <a:solidFill>
                  <a:srgbClr val="232A31"/>
                </a:solidFill>
                <a:latin typeface="Calibri"/>
                <a:cs typeface="Calibri"/>
              </a:rPr>
              <a:t>F1,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per-class </a:t>
            </a:r>
            <a:r>
              <a:rPr dirty="0" sz="1150" spc="-25">
                <a:solidFill>
                  <a:srgbClr val="232A31"/>
                </a:solidFill>
                <a:latin typeface="Calibri"/>
                <a:cs typeface="Calibri"/>
              </a:rPr>
              <a:t>F1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1500" y="4254500"/>
            <a:ext cx="10960100" cy="736600"/>
          </a:xfrm>
          <a:prstGeom prst="rect">
            <a:avLst/>
          </a:prstGeom>
          <a:solidFill>
            <a:srgbClr val="FBEDE9"/>
          </a:solidFill>
          <a:ln w="10159">
            <a:solidFill>
              <a:srgbClr val="E8B8AE"/>
            </a:solidFill>
          </a:ln>
        </p:spPr>
        <p:txBody>
          <a:bodyPr wrap="square" lIns="0" tIns="133350" rIns="0" bIns="0" rtlCol="0" vert="horz">
            <a:spAutoFit/>
          </a:bodyPr>
          <a:lstStyle/>
          <a:p>
            <a:pPr marL="190500">
              <a:lnSpc>
                <a:spcPct val="100000"/>
              </a:lnSpc>
              <a:spcBef>
                <a:spcPts val="1050"/>
              </a:spcBef>
            </a:pP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Training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data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only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→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fit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9C2A1A"/>
                </a:solidFill>
                <a:latin typeface="Calibri"/>
                <a:cs typeface="Calibri"/>
              </a:rPr>
              <a:t>preprocessing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+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autoencoder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+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classifier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|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Test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data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→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transform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and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evaluate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without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fitting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on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future</a:t>
            </a:r>
            <a:r>
              <a:rPr dirty="0" sz="1250" spc="-2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9C2A1A"/>
                </a:solidFill>
                <a:latin typeface="Calibri"/>
                <a:cs typeface="Calibri"/>
              </a:rPr>
              <a:t>labels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8800" y="5295900"/>
            <a:ext cx="6348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Identifiers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such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as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IP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addresses,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flow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ID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and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timestamp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are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excluded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from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the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64-feature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76474"/>
                </a:solidFill>
                <a:latin typeface="Calibri"/>
                <a:cs typeface="Calibri"/>
              </a:rPr>
              <a:t>model</a:t>
            </a:r>
            <a:r>
              <a:rPr dirty="0" sz="120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76474"/>
                </a:solidFill>
                <a:latin typeface="Calibri"/>
                <a:cs typeface="Calibri"/>
              </a:rPr>
              <a:t>input.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2919" y="6103620"/>
            <a:ext cx="11033760" cy="340360"/>
            <a:chOff x="502919" y="6103620"/>
            <a:chExt cx="11033760" cy="340360"/>
          </a:xfrm>
        </p:grpSpPr>
        <p:sp>
          <p:nvSpPr>
            <p:cNvPr id="7" name="object 7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110236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1023600" y="330200"/>
                  </a:lnTo>
                  <a:lnTo>
                    <a:pt x="11023600" y="0"/>
                  </a:lnTo>
                  <a:close/>
                </a:path>
              </a:pathLst>
            </a:custGeom>
            <a:solidFill>
              <a:srgbClr val="F2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0" y="330200"/>
                  </a:moveTo>
                  <a:lnTo>
                    <a:pt x="11023600" y="330200"/>
                  </a:lnTo>
                  <a:lnTo>
                    <a:pt x="11023600" y="0"/>
                  </a:lnTo>
                  <a:lnTo>
                    <a:pt x="0" y="0"/>
                  </a:lnTo>
                  <a:lnTo>
                    <a:pt x="0" y="330200"/>
                  </a:lnTo>
                  <a:close/>
                </a:path>
              </a:pathLst>
            </a:custGeom>
            <a:ln w="10160">
              <a:solidFill>
                <a:srgbClr val="F2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485900" y="6197023"/>
            <a:ext cx="5093970" cy="1727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Preprocessing, autoencoder and classifier are fitted on training data only; test data is only 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transformed.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1209546" y="6552015"/>
            <a:ext cx="335280" cy="1574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05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/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576474"/>
                </a:solidFill>
                <a:latin typeface="Calibri"/>
                <a:cs typeface="Calibri"/>
              </a:rPr>
              <a:t>10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dirty="0" spc="-30"/>
              <a:t> </a:t>
            </a:r>
            <a:r>
              <a:rPr dirty="0" spc="-10"/>
              <a:t>Implementation</a:t>
            </a:r>
            <a:r>
              <a:rPr dirty="0" spc="-30"/>
              <a:t> </a:t>
            </a:r>
            <a:r>
              <a:rPr dirty="0" spc="-1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59925" y="863600"/>
            <a:ext cx="15849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DATA,</a:t>
            </a: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TOOLS</a:t>
            </a:r>
            <a:r>
              <a:rPr dirty="0" sz="800" spc="-5" b="1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 REPRODUCIBILITY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041400"/>
            <a:ext cx="10960100" cy="0"/>
          </a:xfrm>
          <a:custGeom>
            <a:avLst/>
            <a:gdLst/>
            <a:ahLst/>
            <a:cxnLst/>
            <a:rect l="l" t="t" r="r" b="b"/>
            <a:pathLst>
              <a:path w="10960100" h="0">
                <a:moveTo>
                  <a:pt x="0" y="0"/>
                </a:moveTo>
                <a:lnTo>
                  <a:pt x="10960100" y="0"/>
                </a:lnTo>
              </a:path>
            </a:pathLst>
          </a:custGeom>
          <a:ln w="19050">
            <a:solidFill>
              <a:srgbClr val="2F54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8800" y="1212850"/>
            <a:ext cx="4119879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Dataset,</a:t>
            </a:r>
            <a:r>
              <a:rPr dirty="0" sz="1150" spc="-3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features,</a:t>
            </a:r>
            <a:r>
              <a:rPr dirty="0" sz="1150" spc="-3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environment</a:t>
            </a:r>
            <a:r>
              <a:rPr dirty="0" sz="1150" spc="-3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and</a:t>
            </a:r>
            <a:r>
              <a:rPr dirty="0" sz="1150" spc="-3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the</a:t>
            </a:r>
            <a:r>
              <a:rPr dirty="0" sz="1150" spc="-3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chronological</a:t>
            </a:r>
            <a:r>
              <a:rPr dirty="0" sz="1150" spc="-2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train/test</a:t>
            </a:r>
            <a:r>
              <a:rPr dirty="0" sz="1150" spc="-3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split.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500" y="1587500"/>
            <a:ext cx="3556000" cy="12700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DATASET</a:t>
            </a:r>
            <a:endParaRPr sz="1300">
              <a:latin typeface="Calibri"/>
              <a:cs typeface="Calibri"/>
            </a:endParaRPr>
          </a:p>
          <a:p>
            <a:pPr marL="177800" marR="1336040">
              <a:lnSpc>
                <a:spcPct val="108300"/>
              </a:lnSpc>
              <a:spcBef>
                <a:spcPts val="565"/>
              </a:spcBef>
            </a:pP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CIC-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Darknet2020</a:t>
            </a:r>
            <a:r>
              <a:rPr dirty="0" sz="1250" spc="-3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/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Darknet.CSV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158,616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rows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×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85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columns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18000" y="1587500"/>
            <a:ext cx="3556000" cy="12700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FEATURES</a:t>
            </a:r>
            <a:endParaRPr sz="1300">
              <a:latin typeface="Calibri"/>
              <a:cs typeface="Calibri"/>
            </a:endParaRPr>
          </a:p>
          <a:p>
            <a:pPr marL="177800" marR="652145">
              <a:lnSpc>
                <a:spcPct val="108300"/>
              </a:lnSpc>
              <a:spcBef>
                <a:spcPts val="565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64</a:t>
            </a:r>
            <a:r>
              <a:rPr dirty="0" sz="125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numeric</a:t>
            </a:r>
            <a:r>
              <a:rPr dirty="0" sz="1250" spc="-3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traffic</a:t>
            </a:r>
            <a:r>
              <a:rPr dirty="0" sz="1250" spc="-3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features</a:t>
            </a:r>
            <a:r>
              <a:rPr dirty="0" sz="1250" spc="-3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after</a:t>
            </a:r>
            <a:r>
              <a:rPr dirty="0" sz="1250" spc="-3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excludin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g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identifiers</a:t>
            </a:r>
            <a:r>
              <a:rPr dirty="0" sz="1250" spc="-4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125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labels.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64500" y="1587500"/>
            <a:ext cx="3467100" cy="12700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ENVIRONMENT</a:t>
            </a:r>
            <a:endParaRPr sz="1300">
              <a:latin typeface="Calibri"/>
              <a:cs typeface="Calibri"/>
            </a:endParaRPr>
          </a:p>
          <a:p>
            <a:pPr marL="177800" marR="301625">
              <a:lnSpc>
                <a:spcPct val="108300"/>
              </a:lnSpc>
              <a:spcBef>
                <a:spcPts val="565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Python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3.12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•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pandas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•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NumPy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•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scikit-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learn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50">
                <a:solidFill>
                  <a:srgbClr val="232A31"/>
                </a:solidFill>
                <a:latin typeface="Calibri"/>
                <a:cs typeface="Calibri"/>
              </a:rPr>
              <a:t>•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PyTorch</a:t>
            </a:r>
            <a:r>
              <a:rPr dirty="0" sz="1250" spc="-4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(CPU)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800" y="3149600"/>
            <a:ext cx="179641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Chronological</a:t>
            </a:r>
            <a:r>
              <a:rPr dirty="0" sz="1300" spc="-7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experiment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66419" y="3500120"/>
          <a:ext cx="11046460" cy="139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325"/>
                <a:gridCol w="3583940"/>
                <a:gridCol w="5791835"/>
              </a:tblGrid>
              <a:tr h="3810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  <a:tc>
                  <a:txBody>
                    <a:bodyPr/>
                    <a:lstStyle/>
                    <a:p>
                      <a:pPr marL="110744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  <a:tc>
                  <a:txBody>
                    <a:bodyPr/>
                    <a:lstStyle/>
                    <a:p>
                      <a:pPr marL="17145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period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200" spc="-1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Train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750">
                    <a:lnL w="12700">
                      <a:solidFill>
                        <a:srgbClr val="D6DDE4"/>
                      </a:solidFill>
                      <a:prstDash val="solid"/>
                    </a:lnL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marL="110744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60,778</a:t>
                      </a:r>
                      <a:r>
                        <a:rPr dirty="0" sz="1200" spc="-3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rows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750"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marL="171450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Before</a:t>
                      </a:r>
                      <a:r>
                        <a:rPr dirty="0" sz="1200" spc="-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24</a:t>
                      </a:r>
                      <a:r>
                        <a:rPr dirty="0" sz="1200" spc="-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200" spc="-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2016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750"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200" spc="-2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750">
                    <a:lnL w="12700">
                      <a:solidFill>
                        <a:srgbClr val="D6DDE4"/>
                      </a:solidFill>
                      <a:prstDash val="solid"/>
                    </a:lnL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744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66,731</a:t>
                      </a:r>
                      <a:r>
                        <a:rPr dirty="0" sz="1200" spc="-3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rows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750"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On/after</a:t>
                      </a:r>
                      <a:r>
                        <a:rPr dirty="0" sz="1200" spc="-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24</a:t>
                      </a:r>
                      <a:r>
                        <a:rPr dirty="0" sz="1200" spc="-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Feb</a:t>
                      </a:r>
                      <a:r>
                        <a:rPr dirty="0" sz="1200" spc="-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2016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8750"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71500" y="5080000"/>
            <a:ext cx="10960100" cy="558800"/>
          </a:xfrm>
          <a:prstGeom prst="rect">
            <a:avLst/>
          </a:prstGeom>
          <a:solidFill>
            <a:srgbClr val="FBEDE9"/>
          </a:solidFill>
          <a:ln w="10159">
            <a:solidFill>
              <a:srgbClr val="E8B8AE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</a:pP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The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test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period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has</a:t>
            </a:r>
            <a:r>
              <a:rPr dirty="0" sz="1250" spc="-1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a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different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class</a:t>
            </a:r>
            <a:r>
              <a:rPr dirty="0" sz="1250" spc="-1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mix,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making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this</a:t>
            </a:r>
            <a:r>
              <a:rPr dirty="0" sz="1250" spc="-10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a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9C2A1A"/>
                </a:solidFill>
                <a:latin typeface="Calibri"/>
                <a:cs typeface="Calibri"/>
              </a:rPr>
              <a:t>distribution-</a:t>
            </a:r>
            <a:r>
              <a:rPr dirty="0" sz="1250" b="1">
                <a:solidFill>
                  <a:srgbClr val="9C2A1A"/>
                </a:solidFill>
                <a:latin typeface="Calibri"/>
                <a:cs typeface="Calibri"/>
              </a:rPr>
              <a:t>shift</a:t>
            </a:r>
            <a:r>
              <a:rPr dirty="0" sz="1250" spc="-15" b="1">
                <a:solidFill>
                  <a:srgbClr val="9C2A1A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9C2A1A"/>
                </a:solidFill>
                <a:latin typeface="Calibri"/>
                <a:cs typeface="Calibri"/>
              </a:rPr>
              <a:t>evaluation.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2919" y="6103620"/>
            <a:ext cx="11033760" cy="340360"/>
            <a:chOff x="502919" y="6103620"/>
            <a:chExt cx="11033760" cy="340360"/>
          </a:xfrm>
        </p:grpSpPr>
        <p:sp>
          <p:nvSpPr>
            <p:cNvPr id="7" name="object 7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110236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1023600" y="330200"/>
                  </a:lnTo>
                  <a:lnTo>
                    <a:pt x="11023600" y="0"/>
                  </a:lnTo>
                  <a:close/>
                </a:path>
              </a:pathLst>
            </a:custGeom>
            <a:solidFill>
              <a:srgbClr val="F2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0" y="330200"/>
                  </a:moveTo>
                  <a:lnTo>
                    <a:pt x="11023600" y="330200"/>
                  </a:lnTo>
                  <a:lnTo>
                    <a:pt x="11023600" y="0"/>
                  </a:lnTo>
                  <a:lnTo>
                    <a:pt x="0" y="0"/>
                  </a:lnTo>
                  <a:lnTo>
                    <a:pt x="0" y="330200"/>
                  </a:lnTo>
                  <a:close/>
                </a:path>
              </a:pathLst>
            </a:custGeom>
            <a:ln w="10160">
              <a:solidFill>
                <a:srgbClr val="F2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85900" y="6197023"/>
            <a:ext cx="4100195" cy="1727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The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test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period has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a different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class mix,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making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this a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distribution-shift 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evaluation.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209546" y="6552015"/>
            <a:ext cx="335280" cy="1574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06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/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576474"/>
                </a:solidFill>
                <a:latin typeface="Calibri"/>
                <a:cs typeface="Calibri"/>
              </a:rPr>
              <a:t>10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dirty="0" spc="-50"/>
              <a:t> </a:t>
            </a:r>
            <a:r>
              <a:rPr dirty="0"/>
              <a:t>Scenarios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1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4528" y="863600"/>
            <a:ext cx="8801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HOW WE </a:t>
            </a: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EVALUATE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041400"/>
            <a:ext cx="10960100" cy="0"/>
          </a:xfrm>
          <a:custGeom>
            <a:avLst/>
            <a:gdLst/>
            <a:ahLst/>
            <a:cxnLst/>
            <a:rect l="l" t="t" r="r" b="b"/>
            <a:pathLst>
              <a:path w="10960100" h="0">
                <a:moveTo>
                  <a:pt x="0" y="0"/>
                </a:moveTo>
                <a:lnTo>
                  <a:pt x="10960100" y="0"/>
                </a:lnTo>
              </a:path>
            </a:pathLst>
          </a:custGeom>
          <a:ln w="19050">
            <a:solidFill>
              <a:srgbClr val="2F54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8800" y="1212850"/>
            <a:ext cx="36048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Two</a:t>
            </a:r>
            <a:r>
              <a:rPr dirty="0" sz="1150" spc="-2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evaluation</a:t>
            </a:r>
            <a:r>
              <a:rPr dirty="0" sz="1150" spc="-2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scenarios</a:t>
            </a:r>
            <a:r>
              <a:rPr dirty="0" sz="1150" spc="-2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and</a:t>
            </a:r>
            <a:r>
              <a:rPr dirty="0" sz="1150" spc="-2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the</a:t>
            </a:r>
            <a:r>
              <a:rPr dirty="0" sz="1150" spc="-2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metrics</a:t>
            </a:r>
            <a:r>
              <a:rPr dirty="0" sz="1150" spc="-2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reported</a:t>
            </a:r>
            <a:r>
              <a:rPr dirty="0" sz="1150" spc="-2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for</a:t>
            </a:r>
            <a:r>
              <a:rPr dirty="0" sz="1150" spc="-2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each.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500" y="1587500"/>
            <a:ext cx="3556000" cy="15875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SCENARIO</a:t>
            </a:r>
            <a:r>
              <a:rPr dirty="0" sz="1300" spc="-6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2F5497"/>
                </a:solidFill>
                <a:latin typeface="Calibri"/>
                <a:cs typeface="Calibri"/>
              </a:rPr>
              <a:t>A</a:t>
            </a:r>
            <a:endParaRPr sz="130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  <a:spcBef>
                <a:spcPts val="690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Random</a:t>
            </a:r>
            <a:r>
              <a:rPr dirty="0" sz="1250" spc="-4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stratified</a:t>
            </a:r>
            <a:r>
              <a:rPr dirty="0" sz="1250" spc="-4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split.</a:t>
            </a:r>
            <a:endParaRPr sz="1250">
              <a:latin typeface="Calibri"/>
              <a:cs typeface="Calibri"/>
            </a:endParaRPr>
          </a:p>
          <a:p>
            <a:pPr marL="177800" marR="303530">
              <a:lnSpc>
                <a:spcPct val="108300"/>
              </a:lnSpc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Useful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as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conventional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baseline,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but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may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hide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temporal</a:t>
            </a:r>
            <a:r>
              <a:rPr dirty="0" sz="1250" spc="-5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drift.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18000" y="1587500"/>
            <a:ext cx="3556000" cy="1587500"/>
          </a:xfrm>
          <a:prstGeom prst="rect">
            <a:avLst/>
          </a:prstGeom>
          <a:solidFill>
            <a:srgbClr val="E8F4EB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b="1">
                <a:solidFill>
                  <a:srgbClr val="1D7B49"/>
                </a:solidFill>
                <a:latin typeface="Calibri"/>
                <a:cs typeface="Calibri"/>
              </a:rPr>
              <a:t>SCENARIO</a:t>
            </a:r>
            <a:r>
              <a:rPr dirty="0" sz="1300" spc="-60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1D7B49"/>
                </a:solidFill>
                <a:latin typeface="Calibri"/>
                <a:cs typeface="Calibri"/>
              </a:rPr>
              <a:t>B</a:t>
            </a:r>
            <a:endParaRPr sz="130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  <a:spcBef>
                <a:spcPts val="690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Chronological</a:t>
            </a:r>
            <a:r>
              <a:rPr dirty="0" sz="1250" spc="-7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split.</a:t>
            </a:r>
            <a:endParaRPr sz="125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Train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on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earlier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traffic;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test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on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later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traffic.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64500" y="1587500"/>
            <a:ext cx="3467100" cy="15875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METRICS</a:t>
            </a:r>
            <a:endParaRPr sz="1300">
              <a:latin typeface="Calibri"/>
              <a:cs typeface="Calibri"/>
            </a:endParaRPr>
          </a:p>
          <a:p>
            <a:pPr marL="177800" marR="1169035">
              <a:lnSpc>
                <a:spcPct val="108300"/>
              </a:lnSpc>
              <a:spcBef>
                <a:spcPts val="675"/>
              </a:spcBef>
            </a:pP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Accuracy:</a:t>
            </a:r>
            <a:r>
              <a:rPr dirty="0" sz="1150" spc="-4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overall</a:t>
            </a:r>
            <a:r>
              <a:rPr dirty="0" sz="1150" spc="-4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correctness Macro-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F1: equal</a:t>
            </a:r>
            <a:r>
              <a:rPr dirty="0" sz="1150" spc="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weight per</a:t>
            </a:r>
            <a:r>
              <a:rPr dirty="0" sz="1150" spc="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class Per-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class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F1:</a:t>
            </a:r>
            <a:r>
              <a:rPr dirty="0" sz="11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232A31"/>
                </a:solidFill>
                <a:latin typeface="Calibri"/>
                <a:cs typeface="Calibri"/>
              </a:rPr>
              <a:t>minority-class</a:t>
            </a:r>
            <a:r>
              <a:rPr dirty="0" sz="11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232A31"/>
                </a:solidFill>
                <a:latin typeface="Calibri"/>
                <a:cs typeface="Calibri"/>
              </a:rPr>
              <a:t>visibility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800" y="3505200"/>
            <a:ext cx="28702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Why</a:t>
            </a:r>
            <a:r>
              <a:rPr dirty="0" sz="1300" spc="-1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report</a:t>
            </a:r>
            <a:r>
              <a:rPr dirty="0" sz="1300" spc="-1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both</a:t>
            </a:r>
            <a:r>
              <a:rPr dirty="0" sz="1300" spc="-1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accuracy</a:t>
            </a:r>
            <a:r>
              <a:rPr dirty="0" sz="1300" spc="-1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and</a:t>
            </a:r>
            <a:r>
              <a:rPr dirty="0" sz="1300" spc="-1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Macro-</a:t>
            </a:r>
            <a:r>
              <a:rPr dirty="0" sz="1300" spc="-25" b="1">
                <a:solidFill>
                  <a:srgbClr val="2F5497"/>
                </a:solidFill>
                <a:latin typeface="Calibri"/>
                <a:cs typeface="Calibri"/>
              </a:rPr>
              <a:t>F1?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66419" y="3855720"/>
          <a:ext cx="11046460" cy="1346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8390"/>
                <a:gridCol w="8601710"/>
              </a:tblGrid>
              <a:tr h="3810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  <a:tc>
                  <a:txBody>
                    <a:bodyPr/>
                    <a:lstStyle/>
                    <a:p>
                      <a:pPr marL="160337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</a:t>
                      </a: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shows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200" spc="-1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D6DDE4"/>
                      </a:solidFill>
                      <a:prstDash val="solid"/>
                    </a:lnL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marL="160337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look</a:t>
                      </a: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strong</a:t>
                      </a: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few</a:t>
                      </a: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classes</a:t>
                      </a: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dominate</a:t>
                      </a: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set.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46050"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20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Macro-</a:t>
                      </a:r>
                      <a:r>
                        <a:rPr dirty="0" sz="1200" spc="-25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F1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D6DDE4"/>
                      </a:solidFill>
                      <a:prstDash val="solid"/>
                    </a:lnL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337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Exposes</a:t>
                      </a:r>
                      <a:r>
                        <a:rPr dirty="0" sz="1200" spc="-2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weaker</a:t>
                      </a:r>
                      <a:r>
                        <a:rPr dirty="0" sz="1200" spc="-1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dirty="0" sz="1200" spc="-1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200" spc="-1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less</a:t>
                      </a:r>
                      <a:r>
                        <a:rPr dirty="0" sz="1200" spc="-1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frequent</a:t>
                      </a:r>
                      <a:r>
                        <a:rPr dirty="0" sz="1200" spc="-1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classes.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46050"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58800" y="5422900"/>
            <a:ext cx="28771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Evaluation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date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boundary:</a:t>
            </a:r>
            <a:r>
              <a:rPr dirty="0" sz="12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24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February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6365D"/>
                </a:solidFill>
                <a:latin typeface="Calibri"/>
                <a:cs typeface="Calibri"/>
              </a:rPr>
              <a:t>2016.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2919" y="6103620"/>
            <a:ext cx="11033760" cy="340360"/>
            <a:chOff x="502919" y="6103620"/>
            <a:chExt cx="11033760" cy="340360"/>
          </a:xfrm>
        </p:grpSpPr>
        <p:sp>
          <p:nvSpPr>
            <p:cNvPr id="7" name="object 7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110236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1023600" y="330200"/>
                  </a:lnTo>
                  <a:lnTo>
                    <a:pt x="11023600" y="0"/>
                  </a:lnTo>
                  <a:close/>
                </a:path>
              </a:pathLst>
            </a:custGeom>
            <a:solidFill>
              <a:srgbClr val="F2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0" y="330200"/>
                  </a:moveTo>
                  <a:lnTo>
                    <a:pt x="11023600" y="330200"/>
                  </a:lnTo>
                  <a:lnTo>
                    <a:pt x="11023600" y="0"/>
                  </a:lnTo>
                  <a:lnTo>
                    <a:pt x="0" y="0"/>
                  </a:lnTo>
                  <a:lnTo>
                    <a:pt x="0" y="330200"/>
                  </a:lnTo>
                  <a:close/>
                </a:path>
              </a:pathLst>
            </a:custGeom>
            <a:ln w="10160">
              <a:solidFill>
                <a:srgbClr val="F2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85900" y="6197023"/>
            <a:ext cx="5238750" cy="1727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Reporting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both accuracy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and Macro-F1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prevents dominant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classes from hiding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weak minority-class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results.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209546" y="6552015"/>
            <a:ext cx="335280" cy="1574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07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/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576474"/>
                </a:solidFill>
                <a:latin typeface="Calibri"/>
                <a:cs typeface="Calibri"/>
              </a:rPr>
              <a:t>10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dirty="0" spc="-30"/>
              <a:t> </a:t>
            </a:r>
            <a:r>
              <a:rPr dirty="0"/>
              <a:t>Results:</a:t>
            </a:r>
            <a:r>
              <a:rPr dirty="0" spc="-30"/>
              <a:t> </a:t>
            </a:r>
            <a:r>
              <a:rPr dirty="0"/>
              <a:t>Baseline</a:t>
            </a:r>
            <a:r>
              <a:rPr dirty="0" spc="-25"/>
              <a:t> </a:t>
            </a:r>
            <a:r>
              <a:rPr dirty="0"/>
              <a:t>vs</a:t>
            </a:r>
            <a:r>
              <a:rPr dirty="0" spc="-30"/>
              <a:t> </a:t>
            </a:r>
            <a:r>
              <a:rPr dirty="0" spc="-10"/>
              <a:t>Proposed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60259" y="863600"/>
            <a:ext cx="12846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QUANTITATIVE</a:t>
            </a:r>
            <a:r>
              <a:rPr dirty="0" sz="800" spc="65" b="1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COMPARISON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041400"/>
            <a:ext cx="10960100" cy="0"/>
          </a:xfrm>
          <a:custGeom>
            <a:avLst/>
            <a:gdLst/>
            <a:ahLst/>
            <a:cxnLst/>
            <a:rect l="l" t="t" r="r" b="b"/>
            <a:pathLst>
              <a:path w="10960100" h="0">
                <a:moveTo>
                  <a:pt x="0" y="0"/>
                </a:moveTo>
                <a:lnTo>
                  <a:pt x="10960100" y="0"/>
                </a:lnTo>
              </a:path>
            </a:pathLst>
          </a:custGeom>
          <a:ln w="19050">
            <a:solidFill>
              <a:srgbClr val="2F54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8800" y="1212850"/>
            <a:ext cx="2689225" cy="547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Chronological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split</a:t>
            </a:r>
            <a:r>
              <a:rPr dirty="0" sz="11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results</a:t>
            </a:r>
            <a:r>
              <a:rPr dirty="0" sz="11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on</a:t>
            </a:r>
            <a:r>
              <a:rPr dirty="0" sz="11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the test</a:t>
            </a:r>
            <a:r>
              <a:rPr dirty="0" sz="11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period.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Accuracy</a:t>
            </a:r>
            <a:r>
              <a:rPr dirty="0" sz="1300" spc="-5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2F5497"/>
                </a:solidFill>
                <a:latin typeface="Calibri"/>
                <a:cs typeface="Calibri"/>
              </a:rPr>
              <a:t>(%)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37300" y="1536700"/>
            <a:ext cx="9385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Macro-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F1</a:t>
            </a:r>
            <a:r>
              <a:rPr dirty="0" sz="1300" spc="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2F5497"/>
                </a:solidFill>
                <a:latin typeface="Calibri"/>
                <a:cs typeface="Calibri"/>
              </a:rPr>
              <a:t>(%)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8800" y="2260600"/>
            <a:ext cx="557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6365D"/>
                </a:solidFill>
                <a:latin typeface="Calibri"/>
                <a:cs typeface="Calibri"/>
              </a:rPr>
              <a:t>Baseline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20189" y="1905000"/>
            <a:ext cx="3628390" cy="1651000"/>
            <a:chOff x="1520189" y="1905000"/>
            <a:chExt cx="3628390" cy="1651000"/>
          </a:xfrm>
        </p:grpSpPr>
        <p:sp>
          <p:nvSpPr>
            <p:cNvPr id="10" name="object 10"/>
            <p:cNvSpPr/>
            <p:nvPr/>
          </p:nvSpPr>
          <p:spPr>
            <a:xfrm>
              <a:off x="1523999" y="1905000"/>
              <a:ext cx="0" cy="1651000"/>
            </a:xfrm>
            <a:custGeom>
              <a:avLst/>
              <a:gdLst/>
              <a:ahLst/>
              <a:cxnLst/>
              <a:rect l="l" t="t" r="r" b="b"/>
              <a:pathLst>
                <a:path w="0" h="1651000">
                  <a:moveTo>
                    <a:pt x="0" y="0"/>
                  </a:moveTo>
                  <a:lnTo>
                    <a:pt x="0" y="1651000"/>
                  </a:lnTo>
                </a:path>
              </a:pathLst>
            </a:custGeom>
            <a:ln w="7620">
              <a:solidFill>
                <a:srgbClr val="D6DD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71750" y="1905000"/>
              <a:ext cx="2095500" cy="1651000"/>
            </a:xfrm>
            <a:custGeom>
              <a:avLst/>
              <a:gdLst/>
              <a:ahLst/>
              <a:cxnLst/>
              <a:rect l="l" t="t" r="r" b="b"/>
              <a:pathLst>
                <a:path w="2095500" h="1651000">
                  <a:moveTo>
                    <a:pt x="0" y="660400"/>
                  </a:moveTo>
                  <a:lnTo>
                    <a:pt x="0" y="927100"/>
                  </a:lnTo>
                </a:path>
                <a:path w="2095500" h="1651000">
                  <a:moveTo>
                    <a:pt x="0" y="0"/>
                  </a:moveTo>
                  <a:lnTo>
                    <a:pt x="0" y="228600"/>
                  </a:lnTo>
                </a:path>
                <a:path w="2095500" h="1651000">
                  <a:moveTo>
                    <a:pt x="0" y="1358900"/>
                  </a:moveTo>
                  <a:lnTo>
                    <a:pt x="0" y="1651000"/>
                  </a:lnTo>
                </a:path>
                <a:path w="2095500" h="1651000">
                  <a:moveTo>
                    <a:pt x="1047750" y="660400"/>
                  </a:moveTo>
                  <a:lnTo>
                    <a:pt x="1047750" y="927100"/>
                  </a:lnTo>
                </a:path>
                <a:path w="2095500" h="1651000">
                  <a:moveTo>
                    <a:pt x="1047750" y="0"/>
                  </a:moveTo>
                  <a:lnTo>
                    <a:pt x="1047750" y="228600"/>
                  </a:lnTo>
                </a:path>
                <a:path w="2095500" h="1651000">
                  <a:moveTo>
                    <a:pt x="1047750" y="1358900"/>
                  </a:moveTo>
                  <a:lnTo>
                    <a:pt x="1047750" y="1651000"/>
                  </a:lnTo>
                </a:path>
                <a:path w="2095500" h="1651000">
                  <a:moveTo>
                    <a:pt x="2095500" y="660400"/>
                  </a:moveTo>
                  <a:lnTo>
                    <a:pt x="2095500" y="927100"/>
                  </a:lnTo>
                </a:path>
                <a:path w="2095500" h="1651000">
                  <a:moveTo>
                    <a:pt x="2095500" y="0"/>
                  </a:moveTo>
                  <a:lnTo>
                    <a:pt x="2095500" y="228600"/>
                  </a:lnTo>
                </a:path>
                <a:path w="2095500" h="1651000">
                  <a:moveTo>
                    <a:pt x="2095500" y="1358900"/>
                  </a:moveTo>
                  <a:lnTo>
                    <a:pt x="2095500" y="1651000"/>
                  </a:lnTo>
                </a:path>
              </a:pathLst>
            </a:custGeom>
            <a:ln w="7620">
              <a:solidFill>
                <a:srgbClr val="D6DD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23999" y="2133600"/>
              <a:ext cx="3261360" cy="431800"/>
            </a:xfrm>
            <a:custGeom>
              <a:avLst/>
              <a:gdLst/>
              <a:ahLst/>
              <a:cxnLst/>
              <a:rect l="l" t="t" r="r" b="b"/>
              <a:pathLst>
                <a:path w="3261360" h="431800">
                  <a:moveTo>
                    <a:pt x="3261017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3261017" y="431800"/>
                  </a:lnTo>
                  <a:lnTo>
                    <a:pt x="3261017" y="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23999" y="2832100"/>
              <a:ext cx="3624579" cy="431800"/>
            </a:xfrm>
            <a:custGeom>
              <a:avLst/>
              <a:gdLst/>
              <a:ahLst/>
              <a:cxnLst/>
              <a:rect l="l" t="t" r="r" b="b"/>
              <a:pathLst>
                <a:path w="3624579" h="431800">
                  <a:moveTo>
                    <a:pt x="3623957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3623957" y="431800"/>
                  </a:lnTo>
                  <a:lnTo>
                    <a:pt x="3623957" y="0"/>
                  </a:lnTo>
                  <a:close/>
                </a:path>
              </a:pathLst>
            </a:custGeom>
            <a:solidFill>
              <a:srgbClr val="1D7B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873917" y="2260600"/>
            <a:ext cx="375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32A31"/>
                </a:solidFill>
                <a:latin typeface="Calibri"/>
                <a:cs typeface="Calibri"/>
              </a:rPr>
              <a:t>77.81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15000" y="1905000"/>
            <a:ext cx="0" cy="1651000"/>
          </a:xfrm>
          <a:custGeom>
            <a:avLst/>
            <a:gdLst/>
            <a:ahLst/>
            <a:cxnLst/>
            <a:rect l="l" t="t" r="r" b="b"/>
            <a:pathLst>
              <a:path w="0" h="1651000">
                <a:moveTo>
                  <a:pt x="0" y="0"/>
                </a:moveTo>
                <a:lnTo>
                  <a:pt x="0" y="1651000"/>
                </a:lnTo>
              </a:path>
            </a:pathLst>
          </a:custGeom>
          <a:ln w="7620">
            <a:solidFill>
              <a:srgbClr val="D6DD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337300" y="2260600"/>
            <a:ext cx="557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6365D"/>
                </a:solidFill>
                <a:latin typeface="Calibri"/>
                <a:cs typeface="Calibri"/>
              </a:rPr>
              <a:t>Baseline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8800" y="2959100"/>
            <a:ext cx="626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6365D"/>
                </a:solidFill>
                <a:latin typeface="Calibri"/>
                <a:cs typeface="Calibri"/>
              </a:rPr>
              <a:t>Proposed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36857" y="2959100"/>
            <a:ext cx="375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32A31"/>
                </a:solidFill>
                <a:latin typeface="Calibri"/>
                <a:cs typeface="Calibri"/>
              </a:rPr>
              <a:t>86.47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298690" y="1905000"/>
            <a:ext cx="2049780" cy="1651000"/>
            <a:chOff x="7298690" y="1905000"/>
            <a:chExt cx="2049780" cy="1651000"/>
          </a:xfrm>
        </p:grpSpPr>
        <p:sp>
          <p:nvSpPr>
            <p:cNvPr id="26" name="object 26"/>
            <p:cNvSpPr/>
            <p:nvPr/>
          </p:nvSpPr>
          <p:spPr>
            <a:xfrm>
              <a:off x="7302500" y="1905000"/>
              <a:ext cx="0" cy="1651000"/>
            </a:xfrm>
            <a:custGeom>
              <a:avLst/>
              <a:gdLst/>
              <a:ahLst/>
              <a:cxnLst/>
              <a:rect l="l" t="t" r="r" b="b"/>
              <a:pathLst>
                <a:path w="0" h="1651000">
                  <a:moveTo>
                    <a:pt x="0" y="0"/>
                  </a:moveTo>
                  <a:lnTo>
                    <a:pt x="0" y="1651000"/>
                  </a:lnTo>
                </a:path>
              </a:pathLst>
            </a:custGeom>
            <a:ln w="7620">
              <a:solidFill>
                <a:srgbClr val="D6DD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350250" y="1905000"/>
              <a:ext cx="0" cy="1651000"/>
            </a:xfrm>
            <a:custGeom>
              <a:avLst/>
              <a:gdLst/>
              <a:ahLst/>
              <a:cxnLst/>
              <a:rect l="l" t="t" r="r" b="b"/>
              <a:pathLst>
                <a:path w="0" h="1651000">
                  <a:moveTo>
                    <a:pt x="0" y="660400"/>
                  </a:moveTo>
                  <a:lnTo>
                    <a:pt x="0" y="927100"/>
                  </a:lnTo>
                </a:path>
                <a:path w="0" h="1651000">
                  <a:moveTo>
                    <a:pt x="0" y="0"/>
                  </a:moveTo>
                  <a:lnTo>
                    <a:pt x="0" y="228600"/>
                  </a:lnTo>
                </a:path>
                <a:path w="0" h="1651000">
                  <a:moveTo>
                    <a:pt x="0" y="1358900"/>
                  </a:moveTo>
                  <a:lnTo>
                    <a:pt x="0" y="1651000"/>
                  </a:lnTo>
                </a:path>
              </a:pathLst>
            </a:custGeom>
            <a:ln w="7619">
              <a:solidFill>
                <a:srgbClr val="D6DDE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302500" y="2133600"/>
              <a:ext cx="1616710" cy="431800"/>
            </a:xfrm>
            <a:custGeom>
              <a:avLst/>
              <a:gdLst/>
              <a:ahLst/>
              <a:cxnLst/>
              <a:rect l="l" t="t" r="r" b="b"/>
              <a:pathLst>
                <a:path w="1616709" h="431800">
                  <a:moveTo>
                    <a:pt x="1616468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1616468" y="431800"/>
                  </a:lnTo>
                  <a:lnTo>
                    <a:pt x="1616468" y="0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302500" y="2832100"/>
              <a:ext cx="2045970" cy="431800"/>
            </a:xfrm>
            <a:custGeom>
              <a:avLst/>
              <a:gdLst/>
              <a:ahLst/>
              <a:cxnLst/>
              <a:rect l="l" t="t" r="r" b="b"/>
              <a:pathLst>
                <a:path w="2045970" h="431800">
                  <a:moveTo>
                    <a:pt x="2045627" y="0"/>
                  </a:moveTo>
                  <a:lnTo>
                    <a:pt x="0" y="0"/>
                  </a:lnTo>
                  <a:lnTo>
                    <a:pt x="0" y="431800"/>
                  </a:lnTo>
                  <a:lnTo>
                    <a:pt x="2045627" y="431800"/>
                  </a:lnTo>
                  <a:lnTo>
                    <a:pt x="2045627" y="0"/>
                  </a:lnTo>
                  <a:close/>
                </a:path>
              </a:pathLst>
            </a:custGeom>
            <a:solidFill>
              <a:srgbClr val="1D7B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9007868" y="2260600"/>
            <a:ext cx="375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32A31"/>
                </a:solidFill>
                <a:latin typeface="Calibri"/>
                <a:cs typeface="Calibri"/>
              </a:rPr>
              <a:t>38.57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37300" y="2959100"/>
            <a:ext cx="626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6365D"/>
                </a:solidFill>
                <a:latin typeface="Calibri"/>
                <a:cs typeface="Calibri"/>
              </a:rPr>
              <a:t>Proposed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398000" y="1905000"/>
            <a:ext cx="0" cy="1651000"/>
          </a:xfrm>
          <a:custGeom>
            <a:avLst/>
            <a:gdLst/>
            <a:ahLst/>
            <a:cxnLst/>
            <a:rect l="l" t="t" r="r" b="b"/>
            <a:pathLst>
              <a:path w="0" h="1651000">
                <a:moveTo>
                  <a:pt x="0" y="0"/>
                </a:moveTo>
                <a:lnTo>
                  <a:pt x="0" y="1651000"/>
                </a:lnTo>
              </a:path>
            </a:pathLst>
          </a:custGeom>
          <a:ln w="7620">
            <a:solidFill>
              <a:srgbClr val="D6DD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437027" y="2959100"/>
            <a:ext cx="375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32A31"/>
                </a:solidFill>
                <a:latin typeface="Calibri"/>
                <a:cs typeface="Calibri"/>
              </a:rPr>
              <a:t>48.81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445750" y="1905000"/>
            <a:ext cx="0" cy="1651000"/>
          </a:xfrm>
          <a:custGeom>
            <a:avLst/>
            <a:gdLst/>
            <a:ahLst/>
            <a:cxnLst/>
            <a:rect l="l" t="t" r="r" b="b"/>
            <a:pathLst>
              <a:path w="0" h="1651000">
                <a:moveTo>
                  <a:pt x="0" y="0"/>
                </a:moveTo>
                <a:lnTo>
                  <a:pt x="0" y="1651000"/>
                </a:lnTo>
              </a:path>
            </a:pathLst>
          </a:custGeom>
          <a:ln w="7620">
            <a:solidFill>
              <a:srgbClr val="D6DD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493500" y="1905000"/>
            <a:ext cx="0" cy="1651000"/>
          </a:xfrm>
          <a:custGeom>
            <a:avLst/>
            <a:gdLst/>
            <a:ahLst/>
            <a:cxnLst/>
            <a:rect l="l" t="t" r="r" b="b"/>
            <a:pathLst>
              <a:path w="0" h="1651000">
                <a:moveTo>
                  <a:pt x="0" y="0"/>
                </a:moveTo>
                <a:lnTo>
                  <a:pt x="0" y="1651000"/>
                </a:lnTo>
              </a:path>
            </a:pathLst>
          </a:custGeom>
          <a:ln w="7620">
            <a:solidFill>
              <a:srgbClr val="D6DD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82333" y="3632200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76474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01119" y="3632200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76474"/>
                </a:solidFill>
                <a:latin typeface="Calibri"/>
                <a:cs typeface="Calibri"/>
              </a:rPr>
              <a:t>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48869" y="3632200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76474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96619" y="3632200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76474"/>
                </a:solidFill>
                <a:latin typeface="Calibri"/>
                <a:cs typeface="Calibri"/>
              </a:rPr>
              <a:t>75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15402" y="3632200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76474"/>
                </a:solidFill>
                <a:latin typeface="Calibri"/>
                <a:cs typeface="Calibri"/>
              </a:rPr>
              <a:t>100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60833" y="3632200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76474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79618" y="3632200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76474"/>
                </a:solidFill>
                <a:latin typeface="Calibri"/>
                <a:cs typeface="Calibri"/>
              </a:rPr>
              <a:t>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27368" y="3632200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76474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375118" y="3632200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76474"/>
                </a:solidFill>
                <a:latin typeface="Calibri"/>
                <a:cs typeface="Calibri"/>
              </a:rPr>
              <a:t>75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393902" y="3632200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76474"/>
                </a:solidFill>
                <a:latin typeface="Calibri"/>
                <a:cs typeface="Calibri"/>
              </a:rPr>
              <a:t>100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66419" y="4058920"/>
          <a:ext cx="1104646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1540"/>
                <a:gridCol w="2702560"/>
                <a:gridCol w="2574925"/>
                <a:gridCol w="3522979"/>
              </a:tblGrid>
              <a:tr h="3556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25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  <a:tc>
                  <a:txBody>
                    <a:bodyPr/>
                    <a:lstStyle/>
                    <a:p>
                      <a:pPr marL="116586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25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  <a:tc>
                  <a:txBody>
                    <a:bodyPr/>
                    <a:lstStyle/>
                    <a:p>
                      <a:pPr marL="100393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Proposed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25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  <a:tc>
                  <a:txBody>
                    <a:bodyPr/>
                    <a:lstStyle/>
                    <a:p>
                      <a:pPr marL="969644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Improvement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2550"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2F5497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20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Accuracy </a:t>
                      </a:r>
                      <a:r>
                        <a:rPr dirty="0" sz="1200" spc="-25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(%)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0650">
                    <a:lnL w="12700">
                      <a:solidFill>
                        <a:srgbClr val="D6DDE4"/>
                      </a:solidFill>
                      <a:prstDash val="solid"/>
                    </a:lnL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marL="116586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77.81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0650"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marL="100393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86.47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0650"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marL="969644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+8.66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0650"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200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Macro-F1 </a:t>
                      </a:r>
                      <a:r>
                        <a:rPr dirty="0" sz="1200" spc="-25" b="1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(%)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0650">
                    <a:lnL w="12700">
                      <a:solidFill>
                        <a:srgbClr val="D6DDE4"/>
                      </a:solidFill>
                      <a:prstDash val="solid"/>
                    </a:lnL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586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38.57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0650"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93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48.81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0650"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9644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20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+10.24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0650"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558800" y="5435600"/>
            <a:ext cx="42271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76474"/>
                </a:solidFill>
                <a:latin typeface="Calibri"/>
                <a:cs typeface="Calibri"/>
              </a:rPr>
              <a:t>Baseline:</a:t>
            </a:r>
            <a:r>
              <a:rPr dirty="0" sz="11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76474"/>
                </a:solidFill>
                <a:latin typeface="Calibri"/>
                <a:cs typeface="Calibri"/>
              </a:rPr>
              <a:t>fair temporal</a:t>
            </a:r>
            <a:r>
              <a:rPr dirty="0" sz="11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76474"/>
                </a:solidFill>
                <a:latin typeface="Calibri"/>
                <a:cs typeface="Calibri"/>
              </a:rPr>
              <a:t>run</a:t>
            </a:r>
            <a:r>
              <a:rPr dirty="0" sz="1100" spc="25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76474"/>
                </a:solidFill>
                <a:latin typeface="Calibri"/>
                <a:cs typeface="Calibri"/>
              </a:rPr>
              <a:t>•</a:t>
            </a:r>
            <a:r>
              <a:rPr dirty="0" sz="1100" spc="24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76474"/>
                </a:solidFill>
                <a:latin typeface="Calibri"/>
                <a:cs typeface="Calibri"/>
              </a:rPr>
              <a:t>Proposed: self-supervised</a:t>
            </a:r>
            <a:r>
              <a:rPr dirty="0" sz="11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76474"/>
                </a:solidFill>
                <a:latin typeface="Calibri"/>
                <a:cs typeface="Calibri"/>
              </a:rPr>
              <a:t>pipeline, seed</a:t>
            </a:r>
            <a:r>
              <a:rPr dirty="0" sz="110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576474"/>
                </a:solidFill>
                <a:latin typeface="Calibri"/>
                <a:cs typeface="Calibri"/>
              </a:rPr>
              <a:t>42.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2919" y="6103620"/>
            <a:ext cx="11033760" cy="340360"/>
            <a:chOff x="502919" y="6103620"/>
            <a:chExt cx="11033760" cy="340360"/>
          </a:xfrm>
        </p:grpSpPr>
        <p:sp>
          <p:nvSpPr>
            <p:cNvPr id="7" name="object 7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110236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1023600" y="330200"/>
                  </a:lnTo>
                  <a:lnTo>
                    <a:pt x="11023600" y="0"/>
                  </a:lnTo>
                  <a:close/>
                </a:path>
              </a:pathLst>
            </a:custGeom>
            <a:solidFill>
              <a:srgbClr val="F2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0" y="330200"/>
                  </a:moveTo>
                  <a:lnTo>
                    <a:pt x="11023600" y="330200"/>
                  </a:lnTo>
                  <a:lnTo>
                    <a:pt x="11023600" y="0"/>
                  </a:lnTo>
                  <a:lnTo>
                    <a:pt x="0" y="0"/>
                  </a:lnTo>
                  <a:lnTo>
                    <a:pt x="0" y="330200"/>
                  </a:lnTo>
                  <a:close/>
                </a:path>
              </a:pathLst>
            </a:custGeom>
            <a:ln w="10160">
              <a:solidFill>
                <a:srgbClr val="F2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1485900" y="6197023"/>
            <a:ext cx="4245610" cy="1727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Proposed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seed-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42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run: +8.66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percentage points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accuracy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and +10.24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points Macro-</a:t>
            </a:r>
            <a:r>
              <a:rPr dirty="0" sz="950" spc="-25">
                <a:solidFill>
                  <a:srgbClr val="232A31"/>
                </a:solidFill>
                <a:latin typeface="Calibri"/>
                <a:cs typeface="Calibri"/>
              </a:rPr>
              <a:t>F1.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1209546" y="6552015"/>
            <a:ext cx="335280" cy="1574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08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/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576474"/>
                </a:solidFill>
                <a:latin typeface="Calibri"/>
                <a:cs typeface="Calibri"/>
              </a:rPr>
              <a:t>10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8.</a:t>
            </a:r>
            <a:r>
              <a:rPr dirty="0" spc="-45"/>
              <a:t> </a:t>
            </a:r>
            <a:r>
              <a:rPr dirty="0"/>
              <a:t>Analysis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 spc="-1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30382" y="863600"/>
            <a:ext cx="181419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32A31"/>
                </a:solidFill>
                <a:latin typeface="Calibri"/>
                <a:cs typeface="Calibri"/>
              </a:rPr>
              <a:t>INTERPRETING THE RESULTS </a:t>
            </a: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RESPONSIBLY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041400"/>
            <a:ext cx="10960100" cy="0"/>
          </a:xfrm>
          <a:custGeom>
            <a:avLst/>
            <a:gdLst/>
            <a:ahLst/>
            <a:cxnLst/>
            <a:rect l="l" t="t" r="r" b="b"/>
            <a:pathLst>
              <a:path w="10960100" h="0">
                <a:moveTo>
                  <a:pt x="0" y="0"/>
                </a:moveTo>
                <a:lnTo>
                  <a:pt x="10960100" y="0"/>
                </a:lnTo>
              </a:path>
            </a:pathLst>
          </a:custGeom>
          <a:ln w="19050">
            <a:solidFill>
              <a:srgbClr val="2F54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8800" y="1212850"/>
            <a:ext cx="423672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What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improved,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what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remains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hard, and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what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the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results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do not</a:t>
            </a:r>
            <a:r>
              <a:rPr dirty="0" sz="1150" spc="-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show.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500" y="1587500"/>
            <a:ext cx="3556000" cy="1460500"/>
          </a:xfrm>
          <a:prstGeom prst="rect">
            <a:avLst/>
          </a:prstGeom>
          <a:solidFill>
            <a:srgbClr val="E8F4EB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b="1">
                <a:solidFill>
                  <a:srgbClr val="1D7B49"/>
                </a:solidFill>
                <a:latin typeface="Calibri"/>
                <a:cs typeface="Calibri"/>
              </a:rPr>
              <a:t>WHAT </a:t>
            </a:r>
            <a:r>
              <a:rPr dirty="0" sz="1300" spc="-10" b="1">
                <a:solidFill>
                  <a:srgbClr val="1D7B49"/>
                </a:solidFill>
                <a:latin typeface="Calibri"/>
                <a:cs typeface="Calibri"/>
              </a:rPr>
              <a:t>IMPROVED</a:t>
            </a:r>
            <a:endParaRPr sz="1300">
              <a:latin typeface="Calibri"/>
              <a:cs typeface="Calibri"/>
            </a:endParaRPr>
          </a:p>
          <a:p>
            <a:pPr marL="177800" marR="378460">
              <a:lnSpc>
                <a:spcPct val="108300"/>
              </a:lnSpc>
              <a:spcBef>
                <a:spcPts val="565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Overall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accuracy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Macro-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F1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both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increased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under</a:t>
            </a:r>
            <a:r>
              <a:rPr dirty="0" sz="1250" spc="-4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the</a:t>
            </a:r>
            <a:r>
              <a:rPr dirty="0" sz="1250" spc="-4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chronological</a:t>
            </a:r>
            <a:r>
              <a:rPr dirty="0" sz="1250" spc="-4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test.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18000" y="1587500"/>
            <a:ext cx="3556000" cy="14605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WHAT</a:t>
            </a:r>
            <a:r>
              <a:rPr dirty="0" sz="1300" spc="-3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REMAINS</a:t>
            </a:r>
            <a:r>
              <a:rPr dirty="0" sz="1300" spc="-2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F5497"/>
                </a:solidFill>
                <a:latin typeface="Calibri"/>
                <a:cs typeface="Calibri"/>
              </a:rPr>
              <a:t>HARD</a:t>
            </a:r>
            <a:endParaRPr sz="1300">
              <a:latin typeface="Calibri"/>
              <a:cs typeface="Calibri"/>
            </a:endParaRPr>
          </a:p>
          <a:p>
            <a:pPr marL="177800" marR="250190">
              <a:lnSpc>
                <a:spcPct val="108300"/>
              </a:lnSpc>
              <a:spcBef>
                <a:spcPts val="565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Minority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classes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remain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difficult;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per-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class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F1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for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Audio-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Streaming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File-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Transfer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is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low.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64500" y="1587500"/>
            <a:ext cx="3467100" cy="1460500"/>
          </a:xfrm>
          <a:prstGeom prst="rect">
            <a:avLst/>
          </a:prstGeom>
          <a:solidFill>
            <a:srgbClr val="FBEDE9"/>
          </a:solidFill>
          <a:ln w="10159">
            <a:solidFill>
              <a:srgbClr val="D6DDE4"/>
            </a:solidFill>
          </a:ln>
        </p:spPr>
        <p:txBody>
          <a:bodyPr wrap="square" lIns="0" tIns="1524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200"/>
              </a:spcBef>
            </a:pPr>
            <a:r>
              <a:rPr dirty="0" sz="1300" spc="-10" b="1">
                <a:solidFill>
                  <a:srgbClr val="9C2A1A"/>
                </a:solidFill>
                <a:latin typeface="Calibri"/>
                <a:cs typeface="Calibri"/>
              </a:rPr>
              <a:t>LIMITATIONS</a:t>
            </a:r>
            <a:endParaRPr sz="1300">
              <a:latin typeface="Calibri"/>
              <a:cs typeface="Calibri"/>
            </a:endParaRPr>
          </a:p>
          <a:p>
            <a:pPr marL="177800" marR="323850">
              <a:lnSpc>
                <a:spcPct val="108300"/>
              </a:lnSpc>
              <a:spcBef>
                <a:spcPts val="565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Only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two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recorded</a:t>
            </a:r>
            <a:r>
              <a:rPr dirty="0" sz="1250" spc="-1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proposed-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model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runs;</a:t>
            </a:r>
            <a:r>
              <a:rPr dirty="0" sz="1250" spc="-2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one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baseline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run.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Results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are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dataset-</a:t>
            </a:r>
            <a:r>
              <a:rPr dirty="0" sz="1250" spc="-25">
                <a:solidFill>
                  <a:srgbClr val="232A31"/>
                </a:solidFill>
                <a:latin typeface="Calibri"/>
                <a:cs typeface="Calibri"/>
              </a:rPr>
              <a:t> and</a:t>
            </a:r>
            <a:endParaRPr sz="125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split-specific.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800" y="3314700"/>
            <a:ext cx="29406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What</a:t>
            </a: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the</a:t>
            </a:r>
            <a:r>
              <a:rPr dirty="0" sz="1300" spc="-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results</a:t>
            </a: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do</a:t>
            </a:r>
            <a:r>
              <a:rPr dirty="0" sz="1300" spc="-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—</a:t>
            </a: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and</a:t>
            </a:r>
            <a:r>
              <a:rPr dirty="0" sz="1300" spc="-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do</a:t>
            </a: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not</a:t>
            </a:r>
            <a:r>
              <a:rPr dirty="0" sz="1300" spc="-5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F5497"/>
                </a:solidFill>
                <a:latin typeface="Calibri"/>
                <a:cs typeface="Calibri"/>
              </a:rPr>
              <a:t>—</a:t>
            </a: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F5497"/>
                </a:solidFill>
                <a:latin typeface="Calibri"/>
                <a:cs typeface="Calibri"/>
              </a:rPr>
              <a:t>show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66419" y="3677920"/>
          <a:ext cx="1107567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30890"/>
              </a:tblGrid>
              <a:tr h="381000"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They</a:t>
                      </a:r>
                      <a:r>
                        <a:rPr dirty="0" sz="1250" spc="-3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show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improvement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particular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temporal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split.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L w="76200">
                      <a:solidFill>
                        <a:srgbClr val="2F5497"/>
                      </a:solidFill>
                      <a:prstDash val="solid"/>
                    </a:lnL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They</a:t>
                      </a:r>
                      <a:r>
                        <a:rPr dirty="0" sz="1250" spc="-2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250" spc="-2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250" spc="-2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prove</a:t>
                      </a:r>
                      <a:r>
                        <a:rPr dirty="0" sz="1250" spc="-2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robustness</a:t>
                      </a:r>
                      <a:r>
                        <a:rPr dirty="0" sz="1250" spc="-2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50" spc="-2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every</a:t>
                      </a:r>
                      <a:r>
                        <a:rPr dirty="0" sz="1250" spc="-2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network,</a:t>
                      </a:r>
                      <a:r>
                        <a:rPr dirty="0" sz="1250" spc="-2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250" spc="-2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period,</a:t>
                      </a:r>
                      <a:r>
                        <a:rPr dirty="0" sz="1250" spc="-2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250" spc="-2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deployment</a:t>
                      </a:r>
                      <a:r>
                        <a:rPr dirty="0" sz="1250" spc="-2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environment.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L w="76200">
                      <a:solidFill>
                        <a:srgbClr val="2F5497"/>
                      </a:solidFill>
                      <a:prstDash val="solid"/>
                    </a:lnL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dirty="0" sz="1250" spc="-3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imbalance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distribution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shift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remain</a:t>
                      </a:r>
                      <a:r>
                        <a:rPr dirty="0" sz="1250" spc="-3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open</a:t>
                      </a:r>
                      <a:r>
                        <a:rPr dirty="0" sz="1250" spc="-35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232A31"/>
                          </a:solidFill>
                          <a:latin typeface="Calibri"/>
                          <a:cs typeface="Calibri"/>
                        </a:rPr>
                        <a:t>challenges.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L w="76200">
                      <a:solidFill>
                        <a:srgbClr val="2F5497"/>
                      </a:solidFill>
                      <a:prstDash val="solid"/>
                    </a:lnL>
                    <a:lnR w="12700">
                      <a:solidFill>
                        <a:srgbClr val="D6DDE4"/>
                      </a:solidFill>
                      <a:prstDash val="solid"/>
                    </a:lnR>
                    <a:lnT w="12700">
                      <a:solidFill>
                        <a:srgbClr val="D6DDE4"/>
                      </a:solidFill>
                      <a:prstDash val="solid"/>
                    </a:lnT>
                    <a:lnB w="12700">
                      <a:solidFill>
                        <a:srgbClr val="D6DDE4"/>
                      </a:solidFill>
                      <a:prstDash val="solid"/>
                    </a:lnB>
                    <a:solidFill>
                      <a:srgbClr val="F2F4F9"/>
                    </a:solidFill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558800" y="5295900"/>
            <a:ext cx="6139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Next: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more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seeds,</a:t>
            </a:r>
            <a:r>
              <a:rPr dirty="0" sz="12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additional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time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windows,</a:t>
            </a:r>
            <a:r>
              <a:rPr dirty="0" sz="12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class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balancing,</a:t>
            </a:r>
            <a:r>
              <a:rPr dirty="0" sz="12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and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calibration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/</a:t>
            </a:r>
            <a:r>
              <a:rPr dirty="0" sz="12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65D"/>
                </a:solidFill>
                <a:latin typeface="Calibri"/>
                <a:cs typeface="Calibri"/>
              </a:rPr>
              <a:t>robustness</a:t>
            </a:r>
            <a:r>
              <a:rPr dirty="0" sz="1200" spc="-2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6365D"/>
                </a:solidFill>
                <a:latin typeface="Calibri"/>
                <a:cs typeface="Calibri"/>
              </a:rPr>
              <a:t>checks.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2919" y="6103620"/>
            <a:ext cx="11033760" cy="340360"/>
            <a:chOff x="502919" y="6103620"/>
            <a:chExt cx="11033760" cy="340360"/>
          </a:xfrm>
        </p:grpSpPr>
        <p:sp>
          <p:nvSpPr>
            <p:cNvPr id="7" name="object 7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110236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1023600" y="330200"/>
                  </a:lnTo>
                  <a:lnTo>
                    <a:pt x="11023600" y="0"/>
                  </a:lnTo>
                  <a:close/>
                </a:path>
              </a:pathLst>
            </a:custGeom>
            <a:solidFill>
              <a:srgbClr val="F2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0" y="330200"/>
                  </a:moveTo>
                  <a:lnTo>
                    <a:pt x="11023600" y="330200"/>
                  </a:lnTo>
                  <a:lnTo>
                    <a:pt x="11023600" y="0"/>
                  </a:lnTo>
                  <a:lnTo>
                    <a:pt x="0" y="0"/>
                  </a:lnTo>
                  <a:lnTo>
                    <a:pt x="0" y="330200"/>
                  </a:lnTo>
                  <a:close/>
                </a:path>
              </a:pathLst>
            </a:custGeom>
            <a:ln w="10160">
              <a:solidFill>
                <a:srgbClr val="F2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85900" y="6197023"/>
            <a:ext cx="5158105" cy="1727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The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gains hold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for this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temporal split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only; class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imbalance and distribution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shift remain</a:t>
            </a:r>
            <a:r>
              <a:rPr dirty="0" sz="9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open </a:t>
            </a:r>
            <a:r>
              <a:rPr dirty="0" sz="950" spc="-10">
                <a:solidFill>
                  <a:srgbClr val="232A31"/>
                </a:solidFill>
                <a:latin typeface="Calibri"/>
                <a:cs typeface="Calibri"/>
              </a:rPr>
              <a:t>challenges.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209546" y="6552015"/>
            <a:ext cx="335280" cy="1574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09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/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576474"/>
                </a:solidFill>
                <a:latin typeface="Calibri"/>
                <a:cs typeface="Calibri"/>
              </a:rPr>
              <a:t>10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9.</a:t>
            </a:r>
            <a:r>
              <a:rPr dirty="0" spc="-60"/>
              <a:t> </a:t>
            </a:r>
            <a:r>
              <a:rPr dirty="0"/>
              <a:t>Conclusion,</a:t>
            </a:r>
            <a:r>
              <a:rPr dirty="0" spc="-60"/>
              <a:t> </a:t>
            </a:r>
            <a:r>
              <a:rPr dirty="0"/>
              <a:t>Future</a:t>
            </a:r>
            <a:r>
              <a:rPr dirty="0" spc="-60"/>
              <a:t> </a:t>
            </a:r>
            <a:r>
              <a:rPr dirty="0"/>
              <a:t>Work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 spc="-1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85896" y="863600"/>
            <a:ext cx="5588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232A31"/>
                </a:solidFill>
                <a:latin typeface="Calibri"/>
                <a:cs typeface="Calibri"/>
              </a:rPr>
              <a:t>TAKEAWAYS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1041400"/>
            <a:ext cx="10960100" cy="0"/>
          </a:xfrm>
          <a:custGeom>
            <a:avLst/>
            <a:gdLst/>
            <a:ahLst/>
            <a:cxnLst/>
            <a:rect l="l" t="t" r="r" b="b"/>
            <a:pathLst>
              <a:path w="10960100" h="0">
                <a:moveTo>
                  <a:pt x="0" y="0"/>
                </a:moveTo>
                <a:lnTo>
                  <a:pt x="10960100" y="0"/>
                </a:lnTo>
              </a:path>
            </a:pathLst>
          </a:custGeom>
          <a:ln w="19050">
            <a:solidFill>
              <a:srgbClr val="2F54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8800" y="1212850"/>
            <a:ext cx="257238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Summary</a:t>
            </a:r>
            <a:r>
              <a:rPr dirty="0" sz="1150" spc="-1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of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findings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and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76474"/>
                </a:solidFill>
                <a:latin typeface="Calibri"/>
                <a:cs typeface="Calibri"/>
              </a:rPr>
              <a:t>sources</a:t>
            </a:r>
            <a:r>
              <a:rPr dirty="0" sz="1150" spc="-10">
                <a:solidFill>
                  <a:srgbClr val="576474"/>
                </a:solidFill>
                <a:latin typeface="Calibri"/>
                <a:cs typeface="Calibri"/>
              </a:rPr>
              <a:t> used.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500" y="1549400"/>
            <a:ext cx="4826000" cy="1524000"/>
          </a:xfrm>
          <a:prstGeom prst="rect">
            <a:avLst/>
          </a:prstGeom>
          <a:solidFill>
            <a:srgbClr val="E9EFF6"/>
          </a:solidFill>
          <a:ln w="10159">
            <a:solidFill>
              <a:srgbClr val="D6DDE4"/>
            </a:solidFill>
          </a:ln>
        </p:spPr>
        <p:txBody>
          <a:bodyPr wrap="square" lIns="0" tIns="1397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100"/>
              </a:spcBef>
            </a:pPr>
            <a:r>
              <a:rPr dirty="0" sz="1300" spc="-10" b="1">
                <a:solidFill>
                  <a:srgbClr val="2F5497"/>
                </a:solidFill>
                <a:latin typeface="Calibri"/>
                <a:cs typeface="Calibri"/>
              </a:rPr>
              <a:t>CONCLUSION</a:t>
            </a:r>
            <a:endParaRPr sz="1300">
              <a:latin typeface="Calibri"/>
              <a:cs typeface="Calibri"/>
            </a:endParaRPr>
          </a:p>
          <a:p>
            <a:pPr marL="177800" marR="447675">
              <a:lnSpc>
                <a:spcPct val="115399"/>
              </a:lnSpc>
              <a:spcBef>
                <a:spcPts val="600"/>
              </a:spcBef>
            </a:pP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On</a:t>
            </a:r>
            <a:r>
              <a:rPr dirty="0" sz="1300" spc="-1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the</a:t>
            </a:r>
            <a:r>
              <a:rPr dirty="0" sz="1300" spc="-1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selected</a:t>
            </a:r>
            <a:r>
              <a:rPr dirty="0" sz="1300" spc="-1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chronological</a:t>
            </a:r>
            <a:r>
              <a:rPr dirty="0" sz="1300" spc="-1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split,</a:t>
            </a:r>
            <a:r>
              <a:rPr dirty="0" sz="1300" spc="-1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the</a:t>
            </a:r>
            <a:r>
              <a:rPr dirty="0" sz="1300" spc="-1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proposed</a:t>
            </a:r>
            <a:r>
              <a:rPr dirty="0" sz="1300" spc="-10" b="1">
                <a:solidFill>
                  <a:srgbClr val="16365D"/>
                </a:solidFill>
                <a:latin typeface="Calibri"/>
                <a:cs typeface="Calibri"/>
              </a:rPr>
              <a:t> pipeline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improved</a:t>
            </a:r>
            <a:r>
              <a:rPr dirty="0" sz="13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both</a:t>
            </a:r>
            <a:r>
              <a:rPr dirty="0" sz="13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accuracy</a:t>
            </a:r>
            <a:r>
              <a:rPr dirty="0" sz="13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and</a:t>
            </a:r>
            <a:r>
              <a:rPr dirty="0" sz="13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6365D"/>
                </a:solidFill>
                <a:latin typeface="Calibri"/>
                <a:cs typeface="Calibri"/>
              </a:rPr>
              <a:t>Macro-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F1</a:t>
            </a:r>
            <a:r>
              <a:rPr dirty="0" sz="13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over</a:t>
            </a:r>
            <a:r>
              <a:rPr dirty="0" sz="13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the</a:t>
            </a:r>
            <a:r>
              <a:rPr dirty="0" sz="1300" spc="-2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fair</a:t>
            </a:r>
            <a:r>
              <a:rPr dirty="0" sz="1300" spc="-1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6365D"/>
                </a:solidFill>
                <a:latin typeface="Calibri"/>
                <a:cs typeface="Calibri"/>
              </a:rPr>
              <a:t>temporal baseline.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pc="-10"/>
              <a:t>REFERENCES</a:t>
            </a:r>
          </a:p>
          <a:p>
            <a:pPr marL="12700" marR="5080" indent="130810">
              <a:lnSpc>
                <a:spcPct val="107100"/>
              </a:lnSpc>
              <a:spcBef>
                <a:spcPts val="400"/>
              </a:spcBef>
              <a:buAutoNum type="arabicPeriod"/>
              <a:tabLst>
                <a:tab pos="143510" algn="l"/>
              </a:tabLst>
            </a:pP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A.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H.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Lashkari,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G. Kaur,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A. Rahali,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“DIDarknet: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A Contemporary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Approach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to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Detect and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Characterize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the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Darknet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Traffic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Using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Deep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Image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Learning,”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Proc.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10th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ICCNS,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Tokyo,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Japan,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Nov.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2020.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Dataset: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CIC-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Darknet2020,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University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of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New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Brunswick.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  <a:hlinkClick r:id="rId2"/>
              </a:rPr>
              <a:t>https://www.unb.ca/cic/datasets/darknet2020.html</a:t>
            </a:r>
            <a:endParaRPr sz="1050">
              <a:latin typeface="Calibri"/>
              <a:cs typeface="Calibri"/>
            </a:endParaRPr>
          </a:p>
          <a:p>
            <a:pPr marL="12700" marR="281305" indent="130810">
              <a:lnSpc>
                <a:spcPct val="107100"/>
              </a:lnSpc>
              <a:spcBef>
                <a:spcPts val="900"/>
              </a:spcBef>
              <a:buAutoNum type="arabicPeriod" startAt="2"/>
              <a:tabLst>
                <a:tab pos="143510" algn="l"/>
              </a:tabLst>
            </a:pP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G.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E.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Hinton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R.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R.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Salakhutdinov,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“Reducing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the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Dimensionality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of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Data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with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Neural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Networks,”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Science,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vol.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313,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no.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5786,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pp.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504–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507,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2006.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doi:10.1126/science.1127647.</a:t>
            </a:r>
            <a:endParaRPr sz="1050">
              <a:latin typeface="Calibri"/>
              <a:cs typeface="Calibri"/>
            </a:endParaRPr>
          </a:p>
          <a:p>
            <a:pPr marL="12700" marR="713740" indent="130810">
              <a:lnSpc>
                <a:spcPct val="107100"/>
              </a:lnSpc>
              <a:spcBef>
                <a:spcPts val="900"/>
              </a:spcBef>
              <a:buAutoNum type="arabicPeriod" startAt="2"/>
              <a:tabLst>
                <a:tab pos="143510" algn="l"/>
              </a:tabLst>
            </a:pP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S.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Rezaei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X.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Liu,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“Deep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Learning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for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Encrypted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Traffic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Classification: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An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Overview,”</a:t>
            </a:r>
            <a:r>
              <a:rPr dirty="0" sz="1050" spc="-1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spc="-20" b="0">
                <a:solidFill>
                  <a:srgbClr val="232A31"/>
                </a:solidFill>
                <a:latin typeface="Calibri"/>
                <a:cs typeface="Calibri"/>
              </a:rPr>
              <a:t>IEEE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Communications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Magazine,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vol. 57,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no. 5,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pp. 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76–</a:t>
            </a:r>
            <a:r>
              <a:rPr dirty="0" sz="1050" b="0">
                <a:solidFill>
                  <a:srgbClr val="232A31"/>
                </a:solidFill>
                <a:latin typeface="Calibri"/>
                <a:cs typeface="Calibri"/>
              </a:rPr>
              <a:t>81,</a:t>
            </a:r>
            <a:r>
              <a:rPr dirty="0" sz="1050" spc="-5" b="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232A31"/>
                </a:solidFill>
                <a:latin typeface="Calibri"/>
                <a:cs typeface="Calibri"/>
              </a:rPr>
              <a:t>2019.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500" y="3251200"/>
            <a:ext cx="4826000" cy="1397000"/>
          </a:xfrm>
          <a:prstGeom prst="rect">
            <a:avLst/>
          </a:prstGeom>
          <a:solidFill>
            <a:srgbClr val="F2F4F9"/>
          </a:solidFill>
          <a:ln w="10159">
            <a:solidFill>
              <a:srgbClr val="D6DDE4"/>
            </a:solidFill>
          </a:ln>
        </p:spPr>
        <p:txBody>
          <a:bodyPr wrap="square" lIns="0" tIns="1397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100"/>
              </a:spcBef>
            </a:pPr>
            <a:r>
              <a:rPr dirty="0" sz="1300" b="1">
                <a:solidFill>
                  <a:srgbClr val="1D7B49"/>
                </a:solidFill>
                <a:latin typeface="Calibri"/>
                <a:cs typeface="Calibri"/>
              </a:rPr>
              <a:t>FUTURE</a:t>
            </a:r>
            <a:r>
              <a:rPr dirty="0" sz="1300" spc="-45" b="1">
                <a:solidFill>
                  <a:srgbClr val="1D7B49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1D7B49"/>
                </a:solidFill>
                <a:latin typeface="Calibri"/>
                <a:cs typeface="Calibri"/>
              </a:rPr>
              <a:t>WORK</a:t>
            </a:r>
            <a:endParaRPr sz="1300">
              <a:latin typeface="Calibri"/>
              <a:cs typeface="Calibri"/>
            </a:endParaRPr>
          </a:p>
          <a:p>
            <a:pPr marL="177800" marR="396875">
              <a:lnSpc>
                <a:spcPct val="113300"/>
              </a:lnSpc>
              <a:spcBef>
                <a:spcPts val="590"/>
              </a:spcBef>
            </a:pP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Evaluate</a:t>
            </a:r>
            <a:r>
              <a:rPr dirty="0" sz="125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more</a:t>
            </a:r>
            <a:r>
              <a:rPr dirty="0" sz="1250" spc="-3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seeds</a:t>
            </a:r>
            <a:r>
              <a:rPr dirty="0" sz="1250" spc="-3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125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time</a:t>
            </a:r>
            <a:r>
              <a:rPr dirty="0" sz="1250" spc="-3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windows;</a:t>
            </a:r>
            <a:r>
              <a:rPr dirty="0" sz="1250" spc="-3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address</a:t>
            </a:r>
            <a:r>
              <a:rPr dirty="0" sz="1250" spc="-3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minority</a:t>
            </a:r>
            <a:r>
              <a:rPr dirty="0" sz="1250" spc="-3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classes;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test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feature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drift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and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 generalization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on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A31"/>
                </a:solidFill>
                <a:latin typeface="Calibri"/>
                <a:cs typeface="Calibri"/>
              </a:rPr>
              <a:t>another</a:t>
            </a:r>
            <a:r>
              <a:rPr dirty="0" sz="1250" spc="-5">
                <a:solidFill>
                  <a:srgbClr val="232A31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32A31"/>
                </a:solidFill>
                <a:latin typeface="Calibri"/>
                <a:cs typeface="Calibri"/>
              </a:rPr>
              <a:t>dataset.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2300" y="5156200"/>
            <a:ext cx="28086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THANK</a:t>
            </a:r>
            <a:r>
              <a:rPr dirty="0" sz="1300" spc="-1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YOU</a:t>
            </a:r>
            <a:r>
              <a:rPr dirty="0" sz="1300" spc="28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|</a:t>
            </a:r>
            <a:r>
              <a:rPr dirty="0" sz="1300" spc="28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Questions</a:t>
            </a:r>
            <a:r>
              <a:rPr dirty="0" sz="1300" spc="-10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6365D"/>
                </a:solidFill>
                <a:latin typeface="Calibri"/>
                <a:cs typeface="Calibri"/>
              </a:rPr>
              <a:t>and</a:t>
            </a:r>
            <a:r>
              <a:rPr dirty="0" sz="1300" spc="-5" b="1">
                <a:solidFill>
                  <a:srgbClr val="16365D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6365D"/>
                </a:solidFill>
                <a:latin typeface="Calibri"/>
                <a:cs typeface="Calibri"/>
              </a:rPr>
              <a:t>discussion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2919" y="6103620"/>
            <a:ext cx="11033760" cy="340360"/>
            <a:chOff x="502919" y="6103620"/>
            <a:chExt cx="11033760" cy="340360"/>
          </a:xfrm>
        </p:grpSpPr>
        <p:sp>
          <p:nvSpPr>
            <p:cNvPr id="7" name="object 7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11023600" y="0"/>
                  </a:moveTo>
                  <a:lnTo>
                    <a:pt x="0" y="0"/>
                  </a:lnTo>
                  <a:lnTo>
                    <a:pt x="0" y="330200"/>
                  </a:lnTo>
                  <a:lnTo>
                    <a:pt x="11023600" y="330200"/>
                  </a:lnTo>
                  <a:lnTo>
                    <a:pt x="11023600" y="0"/>
                  </a:lnTo>
                  <a:close/>
                </a:path>
              </a:pathLst>
            </a:custGeom>
            <a:solidFill>
              <a:srgbClr val="F2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7999" y="6108700"/>
              <a:ext cx="11023600" cy="330200"/>
            </a:xfrm>
            <a:custGeom>
              <a:avLst/>
              <a:gdLst/>
              <a:ahLst/>
              <a:cxnLst/>
              <a:rect l="l" t="t" r="r" b="b"/>
              <a:pathLst>
                <a:path w="11023600" h="330200">
                  <a:moveTo>
                    <a:pt x="0" y="330200"/>
                  </a:moveTo>
                  <a:lnTo>
                    <a:pt x="11023600" y="330200"/>
                  </a:lnTo>
                  <a:lnTo>
                    <a:pt x="11023600" y="0"/>
                  </a:lnTo>
                  <a:lnTo>
                    <a:pt x="0" y="0"/>
                  </a:lnTo>
                  <a:lnTo>
                    <a:pt x="0" y="330200"/>
                  </a:lnTo>
                  <a:close/>
                </a:path>
              </a:pathLst>
            </a:custGeom>
            <a:ln w="10160">
              <a:solidFill>
                <a:srgbClr val="F2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IN ONE </a:t>
            </a:r>
            <a:r>
              <a:rPr dirty="0" spc="-20"/>
              <a:t>LINE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85900" y="6197023"/>
            <a:ext cx="4806315" cy="1727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50">
                <a:solidFill>
                  <a:srgbClr val="232A31"/>
                </a:solidFill>
                <a:latin typeface="Calibri"/>
                <a:cs typeface="Calibri"/>
              </a:rPr>
              <a:t>On the selected chronological split, the proposed pipeline improved both accuracy and Macro-</a:t>
            </a:r>
            <a:r>
              <a:rPr dirty="0" sz="950" spc="-25">
                <a:solidFill>
                  <a:srgbClr val="232A31"/>
                </a:solidFill>
                <a:latin typeface="Calibri"/>
                <a:cs typeface="Calibri"/>
              </a:rPr>
              <a:t>F1.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Self-</a:t>
            </a:r>
            <a:r>
              <a:rPr dirty="0"/>
              <a:t>Supervised</a:t>
            </a:r>
            <a:r>
              <a:rPr dirty="0" spc="-20"/>
              <a:t> </a:t>
            </a:r>
            <a:r>
              <a:rPr dirty="0"/>
              <a:t>Encrypted</a:t>
            </a:r>
            <a:r>
              <a:rPr dirty="0" spc="-20"/>
              <a:t> </a:t>
            </a:r>
            <a:r>
              <a:rPr dirty="0"/>
              <a:t>Traffic</a:t>
            </a:r>
            <a:r>
              <a:rPr dirty="0" spc="-15"/>
              <a:t> </a:t>
            </a:r>
            <a:r>
              <a:rPr dirty="0"/>
              <a:t>Classification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Computer</a:t>
            </a:r>
            <a:r>
              <a:rPr dirty="0" spc="-20"/>
              <a:t> </a:t>
            </a:r>
            <a:r>
              <a:rPr dirty="0"/>
              <a:t>Networks</a:t>
            </a:r>
            <a:r>
              <a:rPr dirty="0" spc="-15"/>
              <a:t> </a:t>
            </a:r>
            <a:r>
              <a:rPr dirty="0"/>
              <a:t>Lab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/>
              <a:t>Team</a:t>
            </a:r>
            <a:r>
              <a:rPr dirty="0" spc="-20"/>
              <a:t> </a:t>
            </a:r>
            <a:r>
              <a:rPr dirty="0" spc="-25"/>
              <a:t>28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209546" y="6552015"/>
            <a:ext cx="335280" cy="15748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10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576474"/>
                </a:solidFill>
                <a:latin typeface="Calibri"/>
                <a:cs typeface="Calibri"/>
              </a:rPr>
              <a:t>/</a:t>
            </a:r>
            <a:r>
              <a:rPr dirty="0" sz="850" spc="5">
                <a:solidFill>
                  <a:srgbClr val="576474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576474"/>
                </a:solidFill>
                <a:latin typeface="Calibri"/>
                <a:cs typeface="Calibri"/>
              </a:rPr>
              <a:t>10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2A3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Team 28 (F2)</dc:creator>
  <dc:subject>unspecified</dc:subject>
  <dc:title>Self-Supervised Encrypted Traffic Classification Under Network Distribution Shifts</dc:title>
  <dcterms:created xsi:type="dcterms:W3CDTF">2026-10-30T15:08:38Z</dcterms:created>
  <dcterms:modified xsi:type="dcterms:W3CDTF">2026-10-30T15:08:38Z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2026-10-30T00:00:00Z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2026-10-30T00:00:00Z</vt:filetime>
  </property>
  <property fmtid="{D5CDD505-2E9C-101B-9397-08002B2CF9AE}" pid="6" name="Producer">
    <vt:lpwstr>ReportLab PDF Library - (opensource)</vt:lpwstr>
  </property>
</Properties>
</file>